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03b10df1e34f50" /><Relationship Type="http://schemas.openxmlformats.org/officeDocument/2006/relationships/extended-properties" Target="/docProps/app.xml" Id="R8b056bd40be445bf" /><Relationship Type="http://schemas.openxmlformats.org/officeDocument/2006/relationships/officeDocument" Target="/ppt/presentation.xml" Id="R7ffb291e53e44f9e" /></Relationships>
</file>

<file path=ppt/presentation.xml><?xml version="1.0" encoding="utf-8"?>
<p:presentation xmlns:p="http://schemas.openxmlformats.org/presentationml/2006/main">
  <p:sldMasterIdLst>
    <p:sldMasterId xmlns:r="http://schemas.openxmlformats.org/officeDocument/2006/relationships" id="2147483648" r:id="Ra76a3662c3b64f10"/>
  </p:sldMasterIdLst>
  <p:notesMasterIdLst>
    <p:notesMasterId xmlns:r="http://schemas.openxmlformats.org/officeDocument/2006/relationships" r:id="R5297630bca1644b3"/>
  </p:notesMasterIdLst>
  <p:sldIdLst>
    <p:sldId xmlns:r="http://schemas.openxmlformats.org/officeDocument/2006/relationships" id="256" r:id="Ra32d4b24282d49aa"/>
    <p:sldId xmlns:r="http://schemas.openxmlformats.org/officeDocument/2006/relationships" id="257" r:id="Raf97b937f8414509"/>
    <p:sldId xmlns:r="http://schemas.openxmlformats.org/officeDocument/2006/relationships" id="258" r:id="R6bbb67075c95412a"/>
    <p:sldId xmlns:r="http://schemas.openxmlformats.org/officeDocument/2006/relationships" id="259" r:id="R2d279764d62e4490"/>
    <p:sldId xmlns:r="http://schemas.openxmlformats.org/officeDocument/2006/relationships" id="260" r:id="R12866f59f8944cd4"/>
    <p:sldId xmlns:r="http://schemas.openxmlformats.org/officeDocument/2006/relationships" id="261" r:id="R019a62aef42c4ca6"/>
    <p:sldId xmlns:r="http://schemas.openxmlformats.org/officeDocument/2006/relationships" id="262" r:id="R22975b13417449f9"/>
    <p:sldId xmlns:r="http://schemas.openxmlformats.org/officeDocument/2006/relationships" id="263" r:id="R30203b12a7254b7e"/>
    <p:sldId xmlns:r="http://schemas.openxmlformats.org/officeDocument/2006/relationships" id="264" r:id="R8dfcd7e0e0d74284"/>
    <p:sldId xmlns:r="http://schemas.openxmlformats.org/officeDocument/2006/relationships" id="265" r:id="R1f557d532fad45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cf6973389e4522" /><Relationship Type="http://schemas.openxmlformats.org/officeDocument/2006/relationships/slideMaster" Target="/ppt/slideMasters/slideMaster1.xml" Id="Ra76a3662c3b64f10" /><Relationship Type="http://schemas.openxmlformats.org/officeDocument/2006/relationships/notesMaster" Target="/ppt/notesMasters/notesMaster1.xml" Id="R5297630bca1644b3" /><Relationship Type="http://schemas.openxmlformats.org/officeDocument/2006/relationships/presProps" Target="/ppt/presProps.xml" Id="R7933286027814df7" /><Relationship Type="http://schemas.openxmlformats.org/officeDocument/2006/relationships/tableStyles" Target="/ppt/tableStyles.xml" Id="R806d3fa2f44d4e76" /><Relationship Type="http://schemas.openxmlformats.org/officeDocument/2006/relationships/slide" Target="/ppt/slides/slide1.xml" Id="Ra32d4b24282d49aa" /><Relationship Type="http://schemas.openxmlformats.org/officeDocument/2006/relationships/slide" Target="/ppt/slides/slide2.xml" Id="Raf97b937f8414509" /><Relationship Type="http://schemas.openxmlformats.org/officeDocument/2006/relationships/slide" Target="/ppt/slides/slide3.xml" Id="R6bbb67075c95412a" /><Relationship Type="http://schemas.openxmlformats.org/officeDocument/2006/relationships/slide" Target="/ppt/slides/slide4.xml" Id="R2d279764d62e4490" /><Relationship Type="http://schemas.openxmlformats.org/officeDocument/2006/relationships/slide" Target="/ppt/slides/slide5.xml" Id="R12866f59f8944cd4" /><Relationship Type="http://schemas.openxmlformats.org/officeDocument/2006/relationships/slide" Target="/ppt/slides/slide6.xml" Id="R019a62aef42c4ca6" /><Relationship Type="http://schemas.openxmlformats.org/officeDocument/2006/relationships/slide" Target="/ppt/slides/slide7.xml" Id="R22975b13417449f9" /><Relationship Type="http://schemas.openxmlformats.org/officeDocument/2006/relationships/slide" Target="/ppt/slides/slide8.xml" Id="R30203b12a7254b7e" /><Relationship Type="http://schemas.openxmlformats.org/officeDocument/2006/relationships/slide" Target="/ppt/slides/slide9.xml" Id="R8dfcd7e0e0d74284" /><Relationship Type="http://schemas.openxmlformats.org/officeDocument/2006/relationships/slide" Target="/ppt/slides/slide10.xml" Id="R1f557d532fad45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0686e7222540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8c889651b64f98" /><Relationship Type="http://schemas.openxmlformats.org/officeDocument/2006/relationships/notesMaster" Target="/ppt/notesMasters/notesMaster1.xml" Id="R0352c9b881e5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1928db818b42fc" /><Relationship Type="http://schemas.openxmlformats.org/officeDocument/2006/relationships/notesMaster" Target="/ppt/notesMasters/notesMaster1.xml" Id="Rb616697a457748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c1863b092b4103" /><Relationship Type="http://schemas.openxmlformats.org/officeDocument/2006/relationships/notesMaster" Target="/ppt/notesMasters/notesMaster1.xml" Id="Rdbb2c3bbf8a34b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f8ae6fcb224835" /><Relationship Type="http://schemas.openxmlformats.org/officeDocument/2006/relationships/notesMaster" Target="/ppt/notesMasters/notesMaster1.xml" Id="Rb7e7d4a38a5f49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fa42e8a6134d72" /><Relationship Type="http://schemas.openxmlformats.org/officeDocument/2006/relationships/notesMaster" Target="/ppt/notesMasters/notesMaster1.xml" Id="Rce72a4106c1341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71e777a9a34c56" /><Relationship Type="http://schemas.openxmlformats.org/officeDocument/2006/relationships/notesMaster" Target="/ppt/notesMasters/notesMaster1.xml" Id="R5829523c871249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89fb194dff49c4" /><Relationship Type="http://schemas.openxmlformats.org/officeDocument/2006/relationships/notesMaster" Target="/ppt/notesMasters/notesMaster1.xml" Id="R302ae978b77b4e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9cb4c5273e4ea9" /><Relationship Type="http://schemas.openxmlformats.org/officeDocument/2006/relationships/notesMaster" Target="/ppt/notesMasters/notesMaster1.xml" Id="R17b1edec854f43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810fc214144e45" /><Relationship Type="http://schemas.openxmlformats.org/officeDocument/2006/relationships/notesMaster" Target="/ppt/notesMasters/notesMaster1.xml" Id="R31fa194fd32241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2707cd41304487" /><Relationship Type="http://schemas.openxmlformats.org/officeDocument/2006/relationships/notesMaster" Target="/ppt/notesMasters/notesMaster1.xml" Id="R8f2ba5a8b9d14d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business problem: coordinated fraud can appear ordinary when each transaction is scored alone. This project adds relationship context while keeping the final decision with an investigator. Avoid saying the highlighted cluster is a confirmed ring.</a:t>
            </a:r>
          </a:p>
          <a:p xmlns:a="http://schemas.openxmlformats.org/drawingml/2006/main">
            <a:r>
              <a:t/>
            </a:r>
          </a:p>
          <a:p xmlns:a="http://schemas.openxmlformats.org/drawingml/2006/main">
            <a:r>
              <a:t>Sources in this repository:</a:t>
            </a:r>
          </a:p>
          <a:p xmlns:a="http://schemas.openxmlformats.org/drawingml/2006/main">
            <a:r>
              <a:t>- README.md</a:t>
            </a:r>
          </a:p>
          <a:p xmlns:a="http://schemas.openxmlformats.org/drawingml/2006/main">
            <a:r>
              <a:t>-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questions. Tabular scoring asks how risky one transaction looks. Graph scoring also asks whether the transaction shares specific entities with earlier activity. Shared infrastructure has legitimate explanations, so connections guide review rather than confirm wrongdoing.</a:t>
            </a:r>
          </a:p>
          <a:p xmlns:a="http://schemas.openxmlformats.org/drawingml/2006/main">
            <a:r>
              <a:t/>
            </a:r>
          </a:p>
          <a:p xmlns:a="http://schemas.openxmlformats.org/drawingml/2006/main">
            <a:r>
              <a:t>Sources in this repository:</a:t>
            </a:r>
          </a:p>
          <a:p xmlns:a="http://schemas.openxmlformats.org/drawingml/2006/main">
            <a:r>
              <a:t>- README.md</a:t>
            </a:r>
          </a:p>
          <a:p xmlns:a="http://schemas.openxmlformats.org/drawingml/2006/main">
            <a:r>
              <a:t>- docs/graph_schema.md</a:t>
            </a:r>
          </a:p>
          <a:p xmlns:a="http://schemas.openxmlformats.org/drawingml/2006/main">
            <a:r>
              <a:t>-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heterogeneous graph. Transactions connect to entity proxies. The model never receives raw entity identifiers. Common email domains can merge unrelated activity, so the implementation separates broad features from more specific component and dashboard views.</a:t>
            </a:r>
          </a:p>
          <a:p xmlns:a="http://schemas.openxmlformats.org/drawingml/2006/main">
            <a:r>
              <a:t/>
            </a:r>
          </a:p>
          <a:p xmlns:a="http://schemas.openxmlformats.org/drawingml/2006/main">
            <a:r>
              <a:t>Sources in this repository:</a:t>
            </a:r>
          </a:p>
          <a:p xmlns:a="http://schemas.openxmlformats.org/drawingml/2006/main">
            <a:r>
              <a:t>- docs/graph_schema.md</a:t>
            </a:r>
          </a:p>
          <a:p xmlns:a="http://schemas.openxmlformats.org/drawingml/2006/main">
            <a:r>
              <a:t>- docs/graph_feature_dictionary.md</a:t>
            </a:r>
          </a:p>
          <a:p xmlns:a="http://schemas.openxmlformats.org/drawingml/2006/main">
            <a:r>
              <a:t>- docs/data_dictionary.md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technical-control slide. Walk through availability at scoring time. Earlier unlabelled relationship attributes can update structural state, as they would in streaming. Outcome-derived features are stricter and accept only training labels after the configured maturity delay.</a:t>
            </a:r>
          </a:p>
          <a:p xmlns:a="http://schemas.openxmlformats.org/drawingml/2006/main">
            <a:r>
              <a:t/>
            </a:r>
          </a:p>
          <a:p xmlns:a="http://schemas.openxmlformats.org/drawingml/2006/main">
            <a:r>
              <a:t>Sources in this repository:</a:t>
            </a:r>
          </a:p>
          <a:p xmlns:a="http://schemas.openxmlformats.org/drawingml/2006/main">
            <a:r>
              <a:t>- docs/validation_plan.md</a:t>
            </a:r>
          </a:p>
          <a:p xmlns:a="http://schemas.openxmlformats.org/drawingml/2006/main">
            <a:r>
              <a:t>- docs/label_history_features.md</a:t>
            </a:r>
          </a:p>
          <a:p xmlns:a="http://schemas.openxmlformats.org/drawingml/2006/main">
            <a:r>
              <a:t>- configs/project.toml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experiment discipline. The logistic ablation isolates whether graph context adds signal without changing classifier family. LightGBM is a later candidate, not a substitute for proving the core pipeline. Raw identifiers are excluded from the model matrix.</a:t>
            </a:r>
          </a:p>
          <a:p xmlns:a="http://schemas.openxmlformats.org/drawingml/2006/main">
            <a:r>
              <a:t/>
            </a:r>
          </a:p>
          <a:p xmlns:a="http://schemas.openxmlformats.org/drawingml/2006/main">
            <a:r>
              <a:t>Sources in this repository:</a:t>
            </a:r>
          </a:p>
          <a:p xmlns:a="http://schemas.openxmlformats.org/drawingml/2006/main">
            <a:r>
              <a:t>- reports/day5_model_comparison.md</a:t>
            </a:r>
          </a:p>
          <a:p xmlns:a="http://schemas.openxmlformats.org/drawingml/2006/main">
            <a:r>
              <a:t>- docs/graph_feature_dictionary.md</a:t>
            </a:r>
          </a:p>
          <a:p xmlns:a="http://schemas.openxmlformats.org/drawingml/2006/main">
            <a:r>
              <a:t>- src/fraud_detection/model.py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controlled comparison: the graph logistic model uses the same classifier as the tabular baseline, so the large improvement is attributable to added graph context within this synthetic experiment. Do not generalize the magnitude to real bank data.</a:t>
            </a:r>
          </a:p>
          <a:p xmlns:a="http://schemas.openxmlformats.org/drawingml/2006/main">
            <a:r>
              <a:t/>
            </a:r>
          </a:p>
          <a:p xmlns:a="http://schemas.openxmlformats.org/drawingml/2006/main">
            <a:r>
              <a:t>Sources in this repository:</a:t>
            </a:r>
          </a:p>
          <a:p xmlns:a="http://schemas.openxmlformats.org/drawingml/2006/main">
            <a:r>
              <a:t>- reports/experiment_report.md</a:t>
            </a:r>
          </a:p>
          <a:p xmlns:a="http://schemas.openxmlformats.org/drawingml/2006/main">
            <a:r>
              <a:t>- artifacts/day6/metrics_and_errors.json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ranking into investigator workload. At the fixed top-five alert queue, graph models reached 62.5 percent recall. At a matched 37.5 percent recall, they needed three alerts instead of four for rules. The counts are tiny, so present them as a worked operational example rather than a forecast.</a:t>
            </a:r>
          </a:p>
          <a:p xmlns:a="http://schemas.openxmlformats.org/drawingml/2006/main">
            <a:r>
              <a:t/>
            </a:r>
          </a:p>
          <a:p xmlns:a="http://schemas.openxmlformats.org/drawingml/2006/main">
            <a:r>
              <a:t>Sources in this repository:</a:t>
            </a:r>
          </a:p>
          <a:p xmlns:a="http://schemas.openxmlformats.org/drawingml/2006/main">
            <a:r>
              <a:t>- reports/experiment_report.md</a:t>
            </a:r>
          </a:p>
          <a:p xmlns:a="http://schemas.openxmlformats.org/drawingml/2006/main">
            <a:r>
              <a:t>- reports/day6_boosted_error_analysis.md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demonstrates model-selection discipline. LightGBM won on validation and therefore remains the selected model. Graph logistic regression later had a slightly higher test PR-AUC. Switching after seeing the test would leak evaluation information into the choice. Early stopping at iteration three also shows limited tuning evidence.</a:t>
            </a:r>
          </a:p>
          <a:p xmlns:a="http://schemas.openxmlformats.org/drawingml/2006/main">
            <a:r>
              <a:t/>
            </a:r>
          </a:p>
          <a:p xmlns:a="http://schemas.openxmlformats.org/drawingml/2006/main">
            <a:r>
              <a:t>Sources in this repository:</a:t>
            </a:r>
          </a:p>
          <a:p xmlns:a="http://schemas.openxmlformats.org/drawingml/2006/main">
            <a:r>
              <a:t>- reports/experiment_report.md</a:t>
            </a:r>
          </a:p>
          <a:p xmlns:a="http://schemas.openxmlformats.org/drawingml/2006/main">
            <a:r>
              <a:t>- reports/day7_explainability.md</a:t>
            </a:r>
          </a:p>
          <a:p xmlns:a="http://schemas.openxmlformats.org/drawingml/2006/main">
            <a:r>
              <a:t>- docs/model_card.md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interface after this slide if time permits. Explain that each reason requires positive SHAP contribution and factual feature evidence. The local graph deliberately shows only information available before the selected transaction. The action remains investigator review.</a:t>
            </a:r>
          </a:p>
          <a:p xmlns:a="http://schemas.openxmlformats.org/drawingml/2006/main">
            <a:r>
              <a:t/>
            </a:r>
          </a:p>
          <a:p xmlns:a="http://schemas.openxmlformats.org/drawingml/2006/main">
            <a:r>
              <a:t>Sources in this repository:</a:t>
            </a:r>
          </a:p>
          <a:p xmlns:a="http://schemas.openxmlformats.org/drawingml/2006/main">
            <a:r>
              <a:t>- docs/dashboard_guide.md</a:t>
            </a:r>
          </a:p>
          <a:p xmlns:a="http://schemas.openxmlformats.org/drawingml/2006/main">
            <a:r>
              <a:t>- reports/day8_dashboard.md</a:t>
            </a:r>
          </a:p>
          <a:p xmlns:a="http://schemas.openxmlformats.org/drawingml/2006/main">
            <a:r>
              <a:t>- docs/reason_codes.md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claim discipline. The project proves the engineering and evaluation approach on synthetic data. It does not prove deployment performance or ring-level accuracy. The next step is real-data validation, not a deep graph model added for novelty.</a:t>
            </a:r>
          </a:p>
          <a:p xmlns:a="http://schemas.openxmlformats.org/drawingml/2006/main">
            <a:r>
              <a:t/>
            </a:r>
          </a:p>
          <a:p xmlns:a="http://schemas.openxmlformats.org/drawingml/2006/main">
            <a:r>
              <a:t>Sources in this repository:</a:t>
            </a:r>
          </a:p>
          <a:p xmlns:a="http://schemas.openxmlformats.org/drawingml/2006/main">
            <a:r>
              <a:t>- docs/limitations.md</a:t>
            </a:r>
          </a:p>
          <a:p xmlns:a="http://schemas.openxmlformats.org/drawingml/2006/main">
            <a:r>
              <a:t>- docs/model_card.md</a:t>
            </a:r>
          </a:p>
          <a:p xmlns:a="http://schemas.openxmlformats.org/drawingml/2006/main">
            <a:r>
              <a:t>- reports/experiment_report.md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6b1fca0b524d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26aced9d454479" /><Relationship Type="http://schemas.openxmlformats.org/officeDocument/2006/relationships/slideLayout" Target="/ppt/slideLayouts/slideLayout1.xml" Id="Reabc33a2d80f4a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c33a2d80f4a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d94d9d8e244fcd" /><Relationship Type="http://schemas.openxmlformats.org/officeDocument/2006/relationships/image" Target="/ppt/media/image.png" Id="Ra83445e044324597" /><Relationship Type="http://schemas.openxmlformats.org/officeDocument/2006/relationships/notesSlide" Target="/ppt/notesSlides/notesSlide1.xml" Id="Rfc947855d42544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72b44af05f4665" /><Relationship Type="http://schemas.openxmlformats.org/officeDocument/2006/relationships/notesSlide" Target="/ppt/notesSlides/notesSlide2.xml" Id="Ra368de60667848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2ec17326504a92" /><Relationship Type="http://schemas.openxmlformats.org/officeDocument/2006/relationships/notesSlide" Target="/ppt/notesSlides/notesSlide3.xml" Id="Ra12e2ef0b3c345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a22d6855404348" /><Relationship Type="http://schemas.openxmlformats.org/officeDocument/2006/relationships/notesSlide" Target="/ppt/notesSlides/notesSlide4.xml" Id="R5ae4bdb8a90a4c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8a4b64abce43c7" /><Relationship Type="http://schemas.openxmlformats.org/officeDocument/2006/relationships/notesSlide" Target="/ppt/notesSlides/notesSlide5.xml" Id="R79718144348541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377bf8a4194a4b" /><Relationship Type="http://schemas.openxmlformats.org/officeDocument/2006/relationships/chart" Target="/ppt/slides/charts/chart1.xml" Id="R0b03240e4404497a" /><Relationship Type="http://schemas.openxmlformats.org/officeDocument/2006/relationships/notesSlide" Target="/ppt/notesSlides/notesSlide6.xml" Id="Re380dc175e3745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d76093fee44660" /><Relationship Type="http://schemas.openxmlformats.org/officeDocument/2006/relationships/chart" Target="/ppt/slides/charts/chart2.xml" Id="Re1dd62844482443a" /><Relationship Type="http://schemas.openxmlformats.org/officeDocument/2006/relationships/chart" Target="/ppt/slides/charts/chart3.xml" Id="R7f7ab3cd4d0a44b7" /><Relationship Type="http://schemas.openxmlformats.org/officeDocument/2006/relationships/notesSlide" Target="/ppt/notesSlides/notesSlide7.xml" Id="R6edddee32e1a4b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00bde1a68e4bdd" /><Relationship Type="http://schemas.openxmlformats.org/officeDocument/2006/relationships/chart" Target="/ppt/slides/charts/chart4.xml" Id="R36c39aaef9e94a8d" /><Relationship Type="http://schemas.openxmlformats.org/officeDocument/2006/relationships/notesSlide" Target="/ppt/notesSlides/notesSlide8.xml" Id="Rbb4a7399f1904b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8f2a01229d4d36" /><Relationship Type="http://schemas.openxmlformats.org/officeDocument/2006/relationships/notesSlide" Target="/ppt/notesSlides/notesSlide9.xml" Id="R63c859c79ab145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f66fa1fe284060" /><Relationship Type="http://schemas.openxmlformats.org/officeDocument/2006/relationships/notesSlide" Target="/ppt/notesSlides/notesSlide10.xml" Id="R8e0d37f6b98848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PR-AUC</c:v>
          </c:tx>
          <c:spPr>
            <a:solidFill xmlns:a="http://schemas.openxmlformats.org/drawingml/2006/main">
              <a:srgbClr val="2878C8"/>
            </a:solidFill>
          </c:spPr>
          <c:dPt>
            <c:idx val="0"/>
            <c:invertIfNegative val="0"/>
            <c:spPr>
              <a:solidFill xmlns:a="http://schemas.openxmlformats.org/drawingml/2006/main">
                <a:srgbClr val="A7B4C2"/>
              </a:solidFill>
            </c:spPr>
          </c:dPt>
          <c:dPt>
            <c:idx val="1"/>
            <c:invertIfNegative val="0"/>
            <c:spPr>
              <a:solidFill xmlns:a="http://schemas.openxmlformats.org/drawingml/2006/main">
                <a:srgbClr val="6FA5D7"/>
              </a:solidFill>
            </c:spPr>
          </c:dPt>
          <c:dPt>
            <c:idx val="2"/>
            <c:invertIfNegative val="0"/>
            <c:spPr>
              <a:solidFill xmlns:a="http://schemas.openxmlformats.org/drawingml/2006/main">
                <a:srgbClr val="0F9D8A"/>
              </a:solidFill>
            </c:spPr>
          </c:dPt>
          <c:dPt>
            <c:idx val="3"/>
            <c:invertIfNegative val="0"/>
            <c:spPr>
              <a:solidFill xmlns:a="http://schemas.openxmlformats.org/drawingml/2006/main">
                <a:srgbClr val="F59E0B"/>
              </a:solidFill>
            </c:spPr>
          </c:dPt>
          <c:cat>
            <c:strRef>
              <c:f>'Chart Data'!$A$2:$A$5</c:f>
              <c:strCache>
                <c:ptCount val="4"/>
                <c:pt idx="0">
                  <c:v>Rules</c:v>
                </c:pt>
                <c:pt idx="1">
                  <c:v>Tabular logistic</c:v>
                </c:pt>
                <c:pt idx="2">
                  <c:v>Graph logistic</c:v>
                </c:pt>
                <c:pt idx="3">
                  <c:v>Graph LightGBM</c:v>
                </c:pt>
              </c:strCache>
            </c:strRef>
          </c:cat>
          <c:val>
            <c:numRef>
              <c:f>'Chart Data'!$B$2:$B$5</c:f>
              <c:numCache>
                <c:formatCode>0.0000</c:formatCode>
                <c:ptCount val="4"/>
                <c:pt idx="0">
                  <c:v>0.2976</c:v>
                </c:pt>
                <c:pt idx="1">
                  <c:v>0.4989</c:v>
                </c:pt>
                <c:pt idx="2">
                  <c:v>0.8935</c:v>
                </c:pt>
                <c:pt idx="3">
                  <c:v>0.8869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E1EA"/>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3657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142235"/>
                </a:solidFill>
                <a:latin typeface="Arial"/>
                <a:ea typeface="Arial"/>
                <a:cs typeface="Arial"/>
              </a:defRPr>
            </a:pPr>
          </a:p>
        </c:txPr>
        <c:crossAx val="48650112"/>
        <c:crossBetween val="between"/>
      </c:valAx>
      <c:spPr>
        <a:solidFill xmlns:a="http://schemas.openxmlformats.org/drawingml/2006/main">
          <a:srgbClr val="F6F8FB"/>
        </a:solidFill>
      </c:spPr>
    </c:plotArea>
    <c:plotVisOnly val="1"/>
  </c:chart>
  <c:spPr>
    <a:solidFill xmlns:a="http://schemas.openxmlformats.org/drawingml/2006/main">
      <a:srgbClr val="F6F8F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Recall</c:v>
          </c:tx>
          <c:spPr>
            <a:solidFill xmlns:a="http://schemas.openxmlformats.org/drawingml/2006/main">
              <a:srgbClr val="0F9D8A"/>
            </a:solidFill>
          </c:spPr>
          <c:dPt>
            <c:idx val="0"/>
            <c:invertIfNegative val="0"/>
            <c:spPr>
              <a:solidFill xmlns:a="http://schemas.openxmlformats.org/drawingml/2006/main">
                <a:srgbClr val="A7B4C2"/>
              </a:solidFill>
            </c:spPr>
          </c:dPt>
          <c:dPt>
            <c:idx val="1"/>
            <c:invertIfNegative val="0"/>
            <c:spPr>
              <a:solidFill xmlns:a="http://schemas.openxmlformats.org/drawingml/2006/main">
                <a:srgbClr val="6FA5D7"/>
              </a:solidFill>
            </c:spPr>
          </c:dPt>
          <c:cat>
            <c:strRef>
              <c:f>'Chart Data'!$A$2:$A$5</c:f>
              <c:strCache>
                <c:ptCount val="4"/>
                <c:pt idx="0">
                  <c:v>Rules</c:v>
                </c:pt>
                <c:pt idx="1">
                  <c:v>Tabular</c:v>
                </c:pt>
                <c:pt idx="2">
                  <c:v>Graph logistic</c:v>
                </c:pt>
                <c:pt idx="3">
                  <c:v>Graph LightGBM</c:v>
                </c:pt>
              </c:strCache>
            </c:strRef>
          </c:cat>
          <c:val>
            <c:numRef>
              <c:f>'Chart Data'!$B$2:$B$5</c:f>
              <c:numCache>
                <c:formatCode>0%</c:formatCode>
                <c:ptCount val="4"/>
                <c:pt idx="0">
                  <c:v>0.375</c:v>
                </c:pt>
                <c:pt idx="1">
                  <c:v>0.375</c:v>
                </c:pt>
                <c:pt idx="2">
                  <c:v>0.625</c:v>
                </c:pt>
                <c:pt idx="3">
                  <c:v>0.625</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57A"/>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E0E6ED"/>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57A"/>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Alerts</c:v>
          </c:tx>
          <c:spPr>
            <a:solidFill xmlns:a="http://schemas.openxmlformats.org/drawingml/2006/main">
              <a:srgbClr val="F59E0B"/>
            </a:solidFill>
          </c:spPr>
          <c:dPt>
            <c:idx val="0"/>
            <c:invertIfNegative val="0"/>
            <c:spPr>
              <a:solidFill xmlns:a="http://schemas.openxmlformats.org/drawingml/2006/main">
                <a:srgbClr val="A7B4C2"/>
              </a:solidFill>
            </c:spPr>
          </c:dPt>
          <c:dPt>
            <c:idx val="1"/>
            <c:invertIfNegative val="0"/>
            <c:spPr>
              <a:solidFill xmlns:a="http://schemas.openxmlformats.org/drawingml/2006/main">
                <a:srgbClr val="6FA5D7"/>
              </a:solidFill>
            </c:spPr>
          </c:dPt>
          <c:cat>
            <c:strRef>
              <c:f>'Chart Data'!$A$2:$A$5</c:f>
              <c:strCache>
                <c:ptCount val="4"/>
                <c:pt idx="0">
                  <c:v>Rules</c:v>
                </c:pt>
                <c:pt idx="1">
                  <c:v>Tabular</c:v>
                </c:pt>
                <c:pt idx="2">
                  <c:v>Graph logistic</c:v>
                </c:pt>
                <c:pt idx="3">
                  <c:v>Graph LightGBM</c:v>
                </c:pt>
              </c:strCache>
            </c:strRef>
          </c:cat>
          <c:val>
            <c:numRef>
              <c:f>'Chart Data'!$B$2:$B$5</c:f>
              <c:numCache>
                <c:formatCode>0</c:formatCode>
                <c:ptCount val="4"/>
                <c:pt idx="0">
                  <c:v>4</c:v>
                </c:pt>
                <c:pt idx="1">
                  <c:v>5</c:v>
                </c:pt>
                <c:pt idx="2">
                  <c:v>3</c:v>
                </c:pt>
                <c:pt idx="3">
                  <c:v>3</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57A"/>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E0E6ED"/>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57A"/>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 PR-AUC</c:v>
          </c:tx>
          <c:spPr>
            <a:solidFill xmlns:a="http://schemas.openxmlformats.org/drawingml/2006/main">
              <a:srgbClr val="0F9D8A"/>
            </a:solidFill>
          </c:spPr>
          <c:cat>
            <c:strRef>
              <c:f>'Chart Data'!$A$2:$A$3</c:f>
              <c:strCache>
                <c:ptCount val="2"/>
                <c:pt idx="0">
                  <c:v>Graph logistic</c:v>
                </c:pt>
                <c:pt idx="1">
                  <c:v>Graph LightGBM</c:v>
                </c:pt>
              </c:strCache>
            </c:strRef>
          </c:cat>
          <c:val>
            <c:numRef>
              <c:f>'Chart Data'!$B$2:$B$3</c:f>
              <c:numCache>
                <c:formatCode>0.0000</c:formatCode>
                <c:ptCount val="2"/>
                <c:pt idx="0">
                  <c:v>0.925</c:v>
                </c:pt>
                <c:pt idx="1">
                  <c:v>0.9519</c:v>
                </c:pt>
              </c:numCache>
            </c:numRef>
          </c:val>
        </c:ser>
        <c:ser>
          <c:idx val="1"/>
          <c:order val="1"/>
          <c:tx>
            <c:v>Frozen test PR-AUC</c:v>
          </c:tx>
          <c:spPr>
            <a:solidFill xmlns:a="http://schemas.openxmlformats.org/drawingml/2006/main">
              <a:srgbClr val="F59E0B"/>
            </a:solidFill>
          </c:spPr>
          <c:cat>
            <c:strRef>
              <c:f>'Chart Data'!$C$2:$C$3</c:f>
              <c:strCache>
                <c:ptCount val="2"/>
                <c:pt idx="0">
                  <c:v>Graph logistic</c:v>
                </c:pt>
                <c:pt idx="1">
                  <c:v>Graph LightGBM</c:v>
                </c:pt>
              </c:strCache>
            </c:strRef>
          </c:cat>
          <c:val>
            <c:numRef>
              <c:f>'Chart Data'!$D$2:$D$3</c:f>
              <c:numCache>
                <c:formatCode>0.0000</c:formatCode>
                <c:ptCount val="2"/>
                <c:pt idx="0">
                  <c:v>0.8935</c:v>
                </c:pt>
                <c:pt idx="1">
                  <c:v>0.8869</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42235"/>
                </a:solidFill>
                <a:latin typeface="Arial"/>
                <a:ea typeface="Arial"/>
                <a:cs typeface="Arial"/>
              </a:defRPr>
            </a:pPr>
          </a:p>
        </c:txPr>
        <c:crossAx val="48672768"/>
      </c:catAx>
      <c:valAx>
        <c:axId val="48672768"/>
        <c:scaling>
          <c:orientation val="minMax"/>
          <c:max val="0.98"/>
          <c:min val="0.84"/>
        </c:scaling>
        <c:delete val="0"/>
        <c:axPos val="l"/>
        <c:majorGridlines>
          <c:spPr>
            <a:ln xmlns:a="http://schemas.openxmlformats.org/drawingml/2006/main" w="9525">
              <a:solidFill>
                <a:srgbClr val="D9E1EA"/>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57A"/>
                </a:solidFill>
                <a:latin typeface="Arial"/>
                <a:ea typeface="Arial"/>
                <a:cs typeface="Arial"/>
              </a:defRPr>
            </a:pPr>
          </a:p>
        </c:txPr>
        <c:crossAx val="48650112"/>
        <c:crossBetween val="between"/>
        <c:majorUnit val="0.02"/>
      </c:valAx>
      <c:spPr>
        <a:solidFill xmlns:a="http://schemas.openxmlformats.org/drawingml/2006/main">
          <a:srgbClr val="F6F8FB"/>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3657A"/>
              </a:solidFill>
              <a:latin typeface="Arial"/>
              <a:ea typeface="Arial"/>
              <a:cs typeface="Arial"/>
            </a:defRPr>
          </a:pPr>
        </a:p>
      </c:txPr>
    </c:legend>
    <c:plotVisOnly val="1"/>
  </c:chart>
  <c:spPr>
    <a:solidFill xmlns:a="http://schemas.openxmlformats.org/drawingml/2006/main">
      <a:srgbClr val="F6F8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B33"/>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83445e044324597"/>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8CBE82-2A8F-40C9-92AF-20EFCCF33D1C}"/>
              </a:ext>
            </a:extLst>
          </p:cNvPr>
          <p:cNvSpPr>
            <a:spLocks xmlns:a="http://schemas.openxmlformats.org/drawingml/2006/main" noGrp="1"/>
          </p:cNvSpPr>
          <p:nvPr/>
        </p:nvSpPr>
        <p:spPr>
          <a:xfrm xmlns:a="http://schemas.openxmlformats.org/drawingml/2006/main">
            <a:off x="666750" y="1314450"/>
            <a:ext cx="5286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Graph-Based Payment</a:t>
            </a:r>
          </a:p>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Fraud Ring Detection</a:t>
            </a:r>
          </a:p>
        </p:txBody>
      </p:sp>
      <p:sp>
        <p:nvSpPr>
          <p:cNvPr id="3" name="">
            <a:extLst xmlns:a="http://schemas.openxmlformats.org/drawingml/2006/main">
              <a:ext uri="{FF2B5EF4-FFF2-40B4-BE49-F238E27FC236}">
                <a16:creationId xmlns:a16="http://schemas.microsoft.com/office/drawing/2014/main" id="{2054B06A-8DF8-4516-9DD8-FA41E04CE630}"/>
              </a:ext>
            </a:extLst>
          </p:cNvPr>
          <p:cNvSpPr>
            <a:spLocks xmlns:a="http://schemas.openxmlformats.org/drawingml/2006/main" noGrp="1"/>
          </p:cNvSpPr>
          <p:nvPr/>
        </p:nvSpPr>
        <p:spPr>
          <a:xfrm xmlns:a="http://schemas.openxmlformats.org/drawingml/2006/main">
            <a:off x="704850" y="3286125"/>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800" b="0">
                <a:solidFill>
                  <a:srgbClr val="C9DCF3"/>
                </a:solidFill>
                <a:latin typeface="Arial"/>
                <a:ea typeface="Arial"/>
                <a:cs typeface="Arial"/>
              </a:defRPr>
            </a:pPr>
            <a:r>
              <a:rPr sz="1800" b="0">
                <a:solidFill>
                  <a:srgbClr val="C9DCF3"/>
                </a:solidFill>
                <a:latin typeface="Arial"/>
                <a:ea typeface="Arial"/>
                <a:cs typeface="Arial"/>
              </a:rPr>
              <a:t>Investigator prioritisation with leakage-safe graph features</a:t>
            </a:r>
          </a:p>
        </p:txBody>
      </p:sp>
      <p:sp>
        <p:nvSpPr>
          <p:cNvPr id="4" name="">
            <a:extLst xmlns:a="http://schemas.openxmlformats.org/drawingml/2006/main">
              <a:ext uri="{FF2B5EF4-FFF2-40B4-BE49-F238E27FC236}">
                <a16:creationId xmlns:a16="http://schemas.microsoft.com/office/drawing/2014/main" id="{EB037493-7048-4B2B-B285-BCC1AAD04A3B}"/>
              </a:ext>
            </a:extLst>
          </p:cNvPr>
          <p:cNvSpPr>
            <a:spLocks xmlns:a="http://schemas.openxmlformats.org/drawingml/2006/main" noGrp="1"/>
          </p:cNvSpPr>
          <p:nvPr/>
        </p:nvSpPr>
        <p:spPr>
          <a:xfrm xmlns:a="http://schemas.openxmlformats.org/drawingml/2006/main">
            <a:off x="704850" y="5410200"/>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200" b="0">
                <a:solidFill>
                  <a:srgbClr val="AFC7E3"/>
                </a:solidFill>
                <a:latin typeface="Arial"/>
                <a:ea typeface="Arial"/>
                <a:cs typeface="Arial"/>
              </a:defRPr>
            </a:pPr>
            <a:r>
              <a:rPr sz="1200" b="0">
                <a:solidFill>
                  <a:srgbClr val="AFC7E3"/>
                </a:solidFill>
                <a:latin typeface="Arial"/>
                <a:ea typeface="Arial"/>
                <a:cs typeface="Arial"/>
              </a:rPr>
              <a:t>Independent data-science project</a:t>
            </a:r>
          </a:p>
          <a:p xmlns:a="http://schemas.openxmlformats.org/drawingml/2006/main">
            <a:pPr algn="l">
              <a:defRPr sz="1200" b="0">
                <a:solidFill>
                  <a:srgbClr val="AFC7E3"/>
                </a:solidFill>
                <a:latin typeface="Arial"/>
                <a:ea typeface="Arial"/>
                <a:cs typeface="Arial"/>
              </a:defRPr>
            </a:pPr>
            <a:r>
              <a:rPr sz="1200" b="0">
                <a:solidFill>
                  <a:srgbClr val="AFC7E3"/>
                </a:solidFill>
                <a:latin typeface="Arial"/>
                <a:ea typeface="Arial"/>
                <a:cs typeface="Arial"/>
              </a:rPr>
              <a:t>Campus placement interview, September 2026</a:t>
            </a:r>
          </a:p>
        </p:txBody>
      </p:sp>
    </p:spTree>
    <p:extLst>
      <p:ext uri="{BB962C8B-B14F-4D97-AF65-F5344CB8AC3E}">
        <p14:creationId xmlns:p14="http://schemas.microsoft.com/office/powerpoint/2010/main" val="1848767397"/>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E4025F3-821C-4757-BFDD-5E94388F5619}"/>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Why transaction-only scoring misses coordinated activity</a:t>
            </a:r>
          </a:p>
        </p:txBody>
      </p:sp>
      <p:sp>
        <p:nvSpPr>
          <p:cNvPr id="2" name="">
            <a:extLst xmlns:a="http://schemas.openxmlformats.org/drawingml/2006/main">
              <a:ext uri="{FF2B5EF4-FFF2-40B4-BE49-F238E27FC236}">
                <a16:creationId xmlns:a16="http://schemas.microsoft.com/office/drawing/2014/main" id="{076BDB1C-004D-4892-BA8C-2185B3310EC7}"/>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2 / 10</a:t>
            </a:r>
          </a:p>
        </p:txBody>
      </p:sp>
      <p:sp>
        <p:nvSpPr>
          <p:cNvPr id="3" name="">
            <a:extLst xmlns:a="http://schemas.openxmlformats.org/drawingml/2006/main">
              <a:ext uri="{FF2B5EF4-FFF2-40B4-BE49-F238E27FC236}">
                <a16:creationId xmlns:a16="http://schemas.microsoft.com/office/drawing/2014/main" id="{6DF319DE-3A15-485A-9FD6-74B42D26D0B6}"/>
              </a:ext>
            </a:extLst>
          </p:cNvPr>
          <p:cNvSpPr>
            <a:spLocks xmlns:a="http://schemas.openxmlformats.org/drawingml/2006/main" noGrp="1"/>
          </p:cNvSpPr>
          <p:nvPr/>
        </p:nvSpPr>
        <p:spPr>
          <a:xfrm xmlns:a="http://schemas.openxmlformats.org/drawingml/2006/main">
            <a:off x="857250" y="11906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725" b="1">
                <a:solidFill>
                  <a:srgbClr val="53657A"/>
                </a:solidFill>
                <a:latin typeface="Arial"/>
                <a:ea typeface="Arial"/>
                <a:cs typeface="Arial"/>
              </a:defRPr>
            </a:pPr>
            <a:r>
              <a:rPr sz="1725" b="1">
                <a:solidFill>
                  <a:srgbClr val="53657A"/>
                </a:solidFill>
                <a:latin typeface="Arial"/>
                <a:ea typeface="Arial"/>
                <a:cs typeface="Arial"/>
              </a:rPr>
              <a:t>Transaction view</a:t>
            </a:r>
          </a:p>
        </p:txBody>
      </p:sp>
      <p:sp>
        <p:nvSpPr>
          <p:cNvPr id="4" name="">
            <a:extLst xmlns:a="http://schemas.openxmlformats.org/drawingml/2006/main">
              <a:ext uri="{FF2B5EF4-FFF2-40B4-BE49-F238E27FC236}">
                <a16:creationId xmlns:a16="http://schemas.microsoft.com/office/drawing/2014/main" id="{CAEC9FAD-B972-412B-9ED5-4EE7CC2CC5DE}"/>
              </a:ext>
            </a:extLst>
          </p:cNvPr>
          <p:cNvSpPr>
            <a:spLocks xmlns:a="http://schemas.openxmlformats.org/drawingml/2006/main" noGrp="1"/>
          </p:cNvSpPr>
          <p:nvPr/>
        </p:nvSpPr>
        <p:spPr>
          <a:xfrm xmlns:a="http://schemas.openxmlformats.org/drawingml/2006/main">
            <a:off x="1428750" y="2095500"/>
            <a:ext cx="552450" cy="5524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D3E0"/>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500" b="1">
                <a:solidFill>
                  <a:srgbClr val="142235"/>
                </a:solidFill>
                <a:latin typeface="Arial"/>
                <a:ea typeface="Arial"/>
                <a:cs typeface="Arial"/>
              </a:defRPr>
            </a:pPr>
            <a:r>
              <a:rPr sz="1500" b="1">
                <a:solidFill>
                  <a:srgbClr val="142235"/>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803CE27C-58D3-4009-914C-215E127D9648}"/>
              </a:ext>
            </a:extLst>
          </p:cNvPr>
          <p:cNvSpPr>
            <a:spLocks xmlns:a="http://schemas.openxmlformats.org/drawingml/2006/main" noGrp="1"/>
          </p:cNvSpPr>
          <p:nvPr/>
        </p:nvSpPr>
        <p:spPr>
          <a:xfrm xmlns:a="http://schemas.openxmlformats.org/drawingml/2006/main">
            <a:off x="2857500" y="1857375"/>
            <a:ext cx="552450" cy="5524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D3E0"/>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500" b="1">
                <a:solidFill>
                  <a:srgbClr val="142235"/>
                </a:solidFill>
                <a:latin typeface="Arial"/>
                <a:ea typeface="Arial"/>
                <a:cs typeface="Arial"/>
              </a:defRPr>
            </a:pPr>
            <a:r>
              <a:rPr sz="1500" b="1">
                <a:solidFill>
                  <a:srgbClr val="142235"/>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C99BE31E-9901-4B93-BBC4-46F4D409A02A}"/>
              </a:ext>
            </a:extLst>
          </p:cNvPr>
          <p:cNvSpPr>
            <a:spLocks xmlns:a="http://schemas.openxmlformats.org/drawingml/2006/main" noGrp="1"/>
          </p:cNvSpPr>
          <p:nvPr/>
        </p:nvSpPr>
        <p:spPr>
          <a:xfrm xmlns:a="http://schemas.openxmlformats.org/drawingml/2006/main">
            <a:off x="3905250" y="2619375"/>
            <a:ext cx="552450" cy="5524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D3E0"/>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500" b="1">
                <a:solidFill>
                  <a:srgbClr val="142235"/>
                </a:solidFill>
                <a:latin typeface="Arial"/>
                <a:ea typeface="Arial"/>
                <a:cs typeface="Arial"/>
              </a:defRPr>
            </a:pPr>
            <a:r>
              <a:rPr sz="1500" b="1">
                <a:solidFill>
                  <a:srgbClr val="142235"/>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87D74E1F-4354-4814-96E6-DA5801308529}"/>
              </a:ext>
            </a:extLst>
          </p:cNvPr>
          <p:cNvSpPr>
            <a:spLocks xmlns:a="http://schemas.openxmlformats.org/drawingml/2006/main" noGrp="1"/>
          </p:cNvSpPr>
          <p:nvPr/>
        </p:nvSpPr>
        <p:spPr>
          <a:xfrm xmlns:a="http://schemas.openxmlformats.org/drawingml/2006/main">
            <a:off x="1857375" y="3524250"/>
            <a:ext cx="552450" cy="5524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D3E0"/>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500" b="1">
                <a:solidFill>
                  <a:srgbClr val="142235"/>
                </a:solidFill>
                <a:latin typeface="Arial"/>
                <a:ea typeface="Arial"/>
                <a:cs typeface="Arial"/>
              </a:defRPr>
            </a:pPr>
            <a:r>
              <a:rPr sz="1500" b="1">
                <a:solidFill>
                  <a:srgbClr val="142235"/>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31BDB081-116A-4D69-B031-BEB674D904D5}"/>
              </a:ext>
            </a:extLst>
          </p:cNvPr>
          <p:cNvSpPr>
            <a:spLocks xmlns:a="http://schemas.openxmlformats.org/drawingml/2006/main" noGrp="1"/>
          </p:cNvSpPr>
          <p:nvPr/>
        </p:nvSpPr>
        <p:spPr>
          <a:xfrm xmlns:a="http://schemas.openxmlformats.org/drawingml/2006/main">
            <a:off x="3381375" y="3905250"/>
            <a:ext cx="552450" cy="5524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D3E0"/>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500" b="1">
                <a:solidFill>
                  <a:srgbClr val="142235"/>
                </a:solidFill>
                <a:latin typeface="Arial"/>
                <a:ea typeface="Arial"/>
                <a:cs typeface="Arial"/>
              </a:defRPr>
            </a:pPr>
            <a:r>
              <a:rPr sz="1500" b="1">
                <a:solidFill>
                  <a:srgbClr val="142235"/>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D330943-516F-4FD4-A4FD-415C712085BB}"/>
              </a:ext>
            </a:extLst>
          </p:cNvPr>
          <p:cNvSpPr>
            <a:spLocks xmlns:a="http://schemas.openxmlformats.org/drawingml/2006/main" noGrp="1"/>
          </p:cNvSpPr>
          <p:nvPr/>
        </p:nvSpPr>
        <p:spPr>
          <a:xfrm xmlns:a="http://schemas.openxmlformats.org/drawingml/2006/main">
            <a:off x="1000125" y="495300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425" b="0">
                <a:solidFill>
                  <a:srgbClr val="53657A"/>
                </a:solidFill>
                <a:latin typeface="Arial"/>
                <a:ea typeface="Arial"/>
                <a:cs typeface="Arial"/>
              </a:defRPr>
            </a:pPr>
            <a:r>
              <a:rPr sz="1425" b="0">
                <a:solidFill>
                  <a:srgbClr val="53657A"/>
                </a:solidFill>
                <a:latin typeface="Arial"/>
                <a:ea typeface="Arial"/>
                <a:cs typeface="Arial"/>
              </a:rPr>
              <a:t>Each event can look ordinary when the model sees only amount, product, and email domain.</a:t>
            </a:r>
          </a:p>
        </p:txBody>
      </p:sp>
      <p:sp>
        <p:nvSpPr>
          <p:cNvPr id="10" name="">
            <a:extLst xmlns:a="http://schemas.openxmlformats.org/drawingml/2006/main">
              <a:ext uri="{FF2B5EF4-FFF2-40B4-BE49-F238E27FC236}">
                <a16:creationId xmlns:a16="http://schemas.microsoft.com/office/drawing/2014/main" id="{F5C19DE2-AFC5-4A86-872C-6E98D9C4D163}"/>
              </a:ext>
            </a:extLst>
          </p:cNvPr>
          <p:cNvSpPr>
            <a:spLocks xmlns:a="http://schemas.openxmlformats.org/drawingml/2006/main" noGrp="1"/>
          </p:cNvSpPr>
          <p:nvPr/>
        </p:nvSpPr>
        <p:spPr>
          <a:xfrm xmlns:a="http://schemas.openxmlformats.org/drawingml/2006/main">
            <a:off x="6810375" y="119062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725" b="1">
                <a:solidFill>
                  <a:srgbClr val="091B33"/>
                </a:solidFill>
                <a:latin typeface="Arial"/>
                <a:ea typeface="Arial"/>
                <a:cs typeface="Arial"/>
              </a:defRPr>
            </a:pPr>
            <a:r>
              <a:rPr sz="1725" b="1">
                <a:solidFill>
                  <a:srgbClr val="091B33"/>
                </a:solidFill>
                <a:latin typeface="Arial"/>
                <a:ea typeface="Arial"/>
                <a:cs typeface="Arial"/>
              </a:rPr>
              <a:t>Relationship view</a:t>
            </a:r>
          </a:p>
        </p:txBody>
      </p:sp>
      <p:sp>
        <p:nvSpPr>
          <p:cNvPr id="11" name="">
            <a:extLst xmlns:a="http://schemas.openxmlformats.org/drawingml/2006/main">
              <a:ext uri="{FF2B5EF4-FFF2-40B4-BE49-F238E27FC236}">
                <a16:creationId xmlns:a16="http://schemas.microsoft.com/office/drawing/2014/main" id="{7E5E5BCF-5545-45F4-BF62-2246183D1C71}"/>
              </a:ext>
            </a:extLst>
          </p:cNvPr>
          <p:cNvSpPr>
            <a:spLocks xmlns:a="http://schemas.openxmlformats.org/drawingml/2006/main" noGrp="1"/>
          </p:cNvSpPr>
          <p:nvPr/>
        </p:nvSpPr>
        <p:spPr>
          <a:xfrm xmlns:a="http://schemas.openxmlformats.org/drawingml/2006/main" flipH="0" flipV="1">
            <a:off x="7810500" y="2286000"/>
            <a:ext cx="1333500" cy="123825"/>
          </a:xfrm>
          <a:prstGeom xmlns:a="http://schemas.openxmlformats.org/drawingml/2006/main" prst="line">
            <a:avLst/>
          </a:prstGeom>
          <a:noFill xmlns:a="http://schemas.openxmlformats.org/drawingml/2006/main"/>
          <a:ln xmlns:a="http://schemas.openxmlformats.org/drawingml/2006/main" w="19050">
            <a:solidFill>
              <a:srgbClr val="2878C8"/>
            </a:solidFill>
            <a:prstDash val="solid"/>
          </a:ln>
        </p:spPr>
      </p:sp>
      <p:sp>
        <p:nvSpPr>
          <p:cNvPr id="12" name="">
            <a:extLst xmlns:a="http://schemas.openxmlformats.org/drawingml/2006/main">
              <a:ext uri="{FF2B5EF4-FFF2-40B4-BE49-F238E27FC236}">
                <a16:creationId xmlns:a16="http://schemas.microsoft.com/office/drawing/2014/main" id="{93F8F9FA-3DC6-487A-B262-4DF8F74C65B8}"/>
              </a:ext>
            </a:extLst>
          </p:cNvPr>
          <p:cNvSpPr>
            <a:spLocks xmlns:a="http://schemas.openxmlformats.org/drawingml/2006/main" noGrp="1"/>
          </p:cNvSpPr>
          <p:nvPr/>
        </p:nvSpPr>
        <p:spPr>
          <a:xfrm xmlns:a="http://schemas.openxmlformats.org/drawingml/2006/main" flipH="0" flipV="0">
            <a:off x="7810500" y="2409825"/>
            <a:ext cx="1143000" cy="1066800"/>
          </a:xfrm>
          <a:prstGeom xmlns:a="http://schemas.openxmlformats.org/drawingml/2006/main" prst="line">
            <a:avLst/>
          </a:prstGeom>
          <a:noFill xmlns:a="http://schemas.openxmlformats.org/drawingml/2006/main"/>
          <a:ln xmlns:a="http://schemas.openxmlformats.org/drawingml/2006/main" w="19050">
            <a:solidFill>
              <a:srgbClr val="2878C8"/>
            </a:solidFill>
            <a:prstDash val="solid"/>
          </a:ln>
        </p:spPr>
      </p:sp>
      <p:sp>
        <p:nvSpPr>
          <p:cNvPr id="13" name="">
            <a:extLst xmlns:a="http://schemas.openxmlformats.org/drawingml/2006/main">
              <a:ext uri="{FF2B5EF4-FFF2-40B4-BE49-F238E27FC236}">
                <a16:creationId xmlns:a16="http://schemas.microsoft.com/office/drawing/2014/main" id="{6740A71D-A6AF-45CD-9D64-8CC1462A817D}"/>
              </a:ext>
            </a:extLst>
          </p:cNvPr>
          <p:cNvSpPr>
            <a:spLocks xmlns:a="http://schemas.openxmlformats.org/drawingml/2006/main" noGrp="1"/>
          </p:cNvSpPr>
          <p:nvPr/>
        </p:nvSpPr>
        <p:spPr>
          <a:xfrm xmlns:a="http://schemas.openxmlformats.org/drawingml/2006/main" flipH="0" flipV="0">
            <a:off x="9144000" y="2286000"/>
            <a:ext cx="1047750" cy="857250"/>
          </a:xfrm>
          <a:prstGeom xmlns:a="http://schemas.openxmlformats.org/drawingml/2006/main" prst="line">
            <a:avLst/>
          </a:prstGeom>
          <a:noFill xmlns:a="http://schemas.openxmlformats.org/drawingml/2006/main"/>
          <a:ln xmlns:a="http://schemas.openxmlformats.org/drawingml/2006/main" w="28575">
            <a:solidFill>
              <a:srgbClr val="F59E0B"/>
            </a:solidFill>
            <a:prstDash val="solid"/>
          </a:ln>
        </p:spPr>
      </p:sp>
      <p:sp>
        <p:nvSpPr>
          <p:cNvPr id="14" name="">
            <a:extLst xmlns:a="http://schemas.openxmlformats.org/drawingml/2006/main">
              <a:ext uri="{FF2B5EF4-FFF2-40B4-BE49-F238E27FC236}">
                <a16:creationId xmlns:a16="http://schemas.microsoft.com/office/drawing/2014/main" id="{2EF1B5A3-F284-49AD-A590-5864A8A53384}"/>
              </a:ext>
            </a:extLst>
          </p:cNvPr>
          <p:cNvSpPr>
            <a:spLocks xmlns:a="http://schemas.openxmlformats.org/drawingml/2006/main" noGrp="1"/>
          </p:cNvSpPr>
          <p:nvPr/>
        </p:nvSpPr>
        <p:spPr>
          <a:xfrm xmlns:a="http://schemas.openxmlformats.org/drawingml/2006/main" flipH="0" flipV="1">
            <a:off x="8953500" y="3143250"/>
            <a:ext cx="1238250" cy="333375"/>
          </a:xfrm>
          <a:prstGeom xmlns:a="http://schemas.openxmlformats.org/drawingml/2006/main" prst="line">
            <a:avLst/>
          </a:prstGeom>
          <a:noFill xmlns:a="http://schemas.openxmlformats.org/drawingml/2006/main"/>
          <a:ln xmlns:a="http://schemas.openxmlformats.org/drawingml/2006/main" w="28575">
            <a:solidFill>
              <a:srgbClr val="F59E0B"/>
            </a:solidFill>
            <a:prstDash val="solid"/>
          </a:ln>
        </p:spPr>
      </p:sp>
      <p:sp>
        <p:nvSpPr>
          <p:cNvPr id="15" name="">
            <a:extLst xmlns:a="http://schemas.openxmlformats.org/drawingml/2006/main">
              <a:ext uri="{FF2B5EF4-FFF2-40B4-BE49-F238E27FC236}">
                <a16:creationId xmlns:a16="http://schemas.microsoft.com/office/drawing/2014/main" id="{384080E7-C178-4AF6-BB51-484FA5BE9226}"/>
              </a:ext>
            </a:extLst>
          </p:cNvPr>
          <p:cNvSpPr>
            <a:spLocks xmlns:a="http://schemas.openxmlformats.org/drawingml/2006/main" noGrp="1"/>
          </p:cNvSpPr>
          <p:nvPr/>
        </p:nvSpPr>
        <p:spPr>
          <a:xfrm xmlns:a="http://schemas.openxmlformats.org/drawingml/2006/main" flipH="0" flipV="0">
            <a:off x="9144000" y="2286000"/>
            <a:ext cx="381000" cy="2190750"/>
          </a:xfrm>
          <a:prstGeom xmlns:a="http://schemas.openxmlformats.org/drawingml/2006/main" prst="line">
            <a:avLst/>
          </a:prstGeom>
          <a:noFill xmlns:a="http://schemas.openxmlformats.org/drawingml/2006/main"/>
          <a:ln xmlns:a="http://schemas.openxmlformats.org/drawingml/2006/main" w="19050">
            <a:solidFill>
              <a:srgbClr val="2878C8"/>
            </a:solidFill>
            <a:prstDash val="solid"/>
          </a:ln>
        </p:spPr>
      </p:sp>
      <p:sp>
        <p:nvSpPr>
          <p:cNvPr id="16" name="">
            <a:extLst xmlns:a="http://schemas.openxmlformats.org/drawingml/2006/main">
              <a:ext uri="{FF2B5EF4-FFF2-40B4-BE49-F238E27FC236}">
                <a16:creationId xmlns:a16="http://schemas.microsoft.com/office/drawing/2014/main" id="{BD0B3764-ACDA-4065-9DB1-1BAAE7E26EFE}"/>
              </a:ext>
            </a:extLst>
          </p:cNvPr>
          <p:cNvSpPr>
            <a:spLocks xmlns:a="http://schemas.openxmlformats.org/drawingml/2006/main" noGrp="1"/>
          </p:cNvSpPr>
          <p:nvPr/>
        </p:nvSpPr>
        <p:spPr>
          <a:xfrm xmlns:a="http://schemas.openxmlformats.org/drawingml/2006/main" flipH="0" flipV="0">
            <a:off x="8953500" y="3476625"/>
            <a:ext cx="571500" cy="1000125"/>
          </a:xfrm>
          <a:prstGeom xmlns:a="http://schemas.openxmlformats.org/drawingml/2006/main" prst="line">
            <a:avLst/>
          </a:prstGeom>
          <a:noFill xmlns:a="http://schemas.openxmlformats.org/drawingml/2006/main"/>
          <a:ln xmlns:a="http://schemas.openxmlformats.org/drawingml/2006/main" w="19050">
            <a:solidFill>
              <a:srgbClr val="2878C8"/>
            </a:solidFill>
            <a:prstDash val="solid"/>
          </a:ln>
        </p:spPr>
      </p:sp>
      <p:sp>
        <p:nvSpPr>
          <p:cNvPr id="17" name="">
            <a:extLst xmlns:a="http://schemas.openxmlformats.org/drawingml/2006/main">
              <a:ext uri="{FF2B5EF4-FFF2-40B4-BE49-F238E27FC236}">
                <a16:creationId xmlns:a16="http://schemas.microsoft.com/office/drawing/2014/main" id="{77FFC036-97D1-4E09-90AE-F178B49A130F}"/>
              </a:ext>
            </a:extLst>
          </p:cNvPr>
          <p:cNvSpPr>
            <a:spLocks xmlns:a="http://schemas.openxmlformats.org/drawingml/2006/main" noGrp="1"/>
          </p:cNvSpPr>
          <p:nvPr/>
        </p:nvSpPr>
        <p:spPr>
          <a:xfrm xmlns:a="http://schemas.openxmlformats.org/drawingml/2006/main">
            <a:off x="7429500" y="2047875"/>
            <a:ext cx="742950" cy="742950"/>
          </a:xfrm>
          <a:prstGeom xmlns:a="http://schemas.openxmlformats.org/drawingml/2006/main" prst="ellipse">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75" b="1">
                <a:solidFill>
                  <a:srgbClr val="142235"/>
                </a:solidFill>
                <a:latin typeface="Arial"/>
                <a:ea typeface="Arial"/>
                <a:cs typeface="Arial"/>
              </a:defRPr>
            </a:pPr>
            <a:r>
              <a:rPr sz="1275" b="1">
                <a:solidFill>
                  <a:srgbClr val="142235"/>
                </a:solidFill>
                <a:latin typeface="Arial"/>
                <a:ea typeface="Arial"/>
                <a:cs typeface="Arial"/>
              </a:rPr>
              <a:t>Txn</a:t>
            </a:r>
          </a:p>
        </p:txBody>
      </p:sp>
      <p:sp>
        <p:nvSpPr>
          <p:cNvPr id="18" name="">
            <a:extLst xmlns:a="http://schemas.openxmlformats.org/drawingml/2006/main">
              <a:ext uri="{FF2B5EF4-FFF2-40B4-BE49-F238E27FC236}">
                <a16:creationId xmlns:a16="http://schemas.microsoft.com/office/drawing/2014/main" id="{193CA64C-BC65-46D1-949D-BF6BA775E94C}"/>
              </a:ext>
            </a:extLst>
          </p:cNvPr>
          <p:cNvSpPr>
            <a:spLocks xmlns:a="http://schemas.openxmlformats.org/drawingml/2006/main" noGrp="1"/>
          </p:cNvSpPr>
          <p:nvPr/>
        </p:nvSpPr>
        <p:spPr>
          <a:xfrm xmlns:a="http://schemas.openxmlformats.org/drawingml/2006/main">
            <a:off x="8715375" y="1905000"/>
            <a:ext cx="914400" cy="781050"/>
          </a:xfrm>
          <a:prstGeom xmlns:a="http://schemas.openxmlformats.org/drawingml/2006/main" prst="ellipse">
            <a:avLst/>
          </a:prstGeom>
          <a:solidFill xmlns:a="http://schemas.openxmlformats.org/drawingml/2006/main">
            <a:srgbClr val="D9F3EE"/>
          </a:solidFill>
          <a:ln xmlns:a="http://schemas.openxmlformats.org/drawingml/2006/main" w="19050">
            <a:solidFill>
              <a:srgbClr val="0F9D8A"/>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125" b="1">
                <a:solidFill>
                  <a:srgbClr val="142235"/>
                </a:solidFill>
                <a:latin typeface="Arial"/>
                <a:ea typeface="Arial"/>
                <a:cs typeface="Arial"/>
              </a:defRPr>
            </a:pPr>
            <a:r>
              <a:rPr sz="1125" b="1">
                <a:solidFill>
                  <a:srgbClr val="142235"/>
                </a:solidFill>
                <a:latin typeface="Arial"/>
                <a:ea typeface="Arial"/>
                <a:cs typeface="Arial"/>
              </a:rPr>
              <a:t>Device</a:t>
            </a:r>
          </a:p>
        </p:txBody>
      </p:sp>
      <p:sp>
        <p:nvSpPr>
          <p:cNvPr id="19" name="">
            <a:extLst xmlns:a="http://schemas.openxmlformats.org/drawingml/2006/main">
              <a:ext uri="{FF2B5EF4-FFF2-40B4-BE49-F238E27FC236}">
                <a16:creationId xmlns:a16="http://schemas.microsoft.com/office/drawing/2014/main" id="{21F1FB1A-0620-4464-87CB-689F4A8D31C3}"/>
              </a:ext>
            </a:extLst>
          </p:cNvPr>
          <p:cNvSpPr>
            <a:spLocks xmlns:a="http://schemas.openxmlformats.org/drawingml/2006/main" noGrp="1"/>
          </p:cNvSpPr>
          <p:nvPr/>
        </p:nvSpPr>
        <p:spPr>
          <a:xfrm xmlns:a="http://schemas.openxmlformats.org/drawingml/2006/main">
            <a:off x="8572500" y="3095625"/>
            <a:ext cx="781050" cy="781050"/>
          </a:xfrm>
          <a:prstGeom xmlns:a="http://schemas.openxmlformats.org/drawingml/2006/main" prst="ellipse">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00" b="1">
                <a:solidFill>
                  <a:srgbClr val="142235"/>
                </a:solidFill>
                <a:latin typeface="Arial"/>
                <a:ea typeface="Arial"/>
                <a:cs typeface="Arial"/>
              </a:defRPr>
            </a:pPr>
            <a:r>
              <a:rPr sz="1200" b="1">
                <a:solidFill>
                  <a:srgbClr val="142235"/>
                </a:solidFill>
                <a:latin typeface="Arial"/>
                <a:ea typeface="Arial"/>
                <a:cs typeface="Arial"/>
              </a:rPr>
              <a:t>Card</a:t>
            </a:r>
          </a:p>
        </p:txBody>
      </p:sp>
      <p:sp>
        <p:nvSpPr>
          <p:cNvPr id="20" name="">
            <a:extLst xmlns:a="http://schemas.openxmlformats.org/drawingml/2006/main">
              <a:ext uri="{FF2B5EF4-FFF2-40B4-BE49-F238E27FC236}">
                <a16:creationId xmlns:a16="http://schemas.microsoft.com/office/drawing/2014/main" id="{EA037B38-3884-4452-87BE-DFBCB89E122C}"/>
              </a:ext>
            </a:extLst>
          </p:cNvPr>
          <p:cNvSpPr>
            <a:spLocks xmlns:a="http://schemas.openxmlformats.org/drawingml/2006/main" noGrp="1"/>
          </p:cNvSpPr>
          <p:nvPr/>
        </p:nvSpPr>
        <p:spPr>
          <a:xfrm xmlns:a="http://schemas.openxmlformats.org/drawingml/2006/main">
            <a:off x="9639300" y="2733675"/>
            <a:ext cx="1143000" cy="857250"/>
          </a:xfrm>
          <a:prstGeom xmlns:a="http://schemas.openxmlformats.org/drawingml/2006/main" prst="ellipse">
            <a:avLst/>
          </a:prstGeom>
          <a:solidFill xmlns:a="http://schemas.openxmlformats.org/drawingml/2006/main">
            <a:srgbClr val="FEF0C7"/>
          </a:solidFill>
          <a:ln xmlns:a="http://schemas.openxmlformats.org/drawingml/2006/main" w="19050">
            <a:solidFill>
              <a:srgbClr val="F59E0B"/>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050" b="1">
                <a:solidFill>
                  <a:srgbClr val="142235"/>
                </a:solidFill>
                <a:latin typeface="Arial"/>
                <a:ea typeface="Arial"/>
                <a:cs typeface="Arial"/>
              </a:defRPr>
            </a:pPr>
            <a:r>
              <a:rPr sz="1050" b="1">
                <a:solidFill>
                  <a:srgbClr val="142235"/>
                </a:solidFill>
                <a:latin typeface="Arial"/>
                <a:ea typeface="Arial"/>
                <a:cs typeface="Arial"/>
              </a:rPr>
              <a:t>Recipient</a:t>
            </a:r>
          </a:p>
        </p:txBody>
      </p:sp>
      <p:sp>
        <p:nvSpPr>
          <p:cNvPr id="21" name="">
            <a:extLst xmlns:a="http://schemas.openxmlformats.org/drawingml/2006/main">
              <a:ext uri="{FF2B5EF4-FFF2-40B4-BE49-F238E27FC236}">
                <a16:creationId xmlns:a16="http://schemas.microsoft.com/office/drawing/2014/main" id="{0DAFB2D7-47EA-489C-9A24-7D7C751E4BDB}"/>
              </a:ext>
            </a:extLst>
          </p:cNvPr>
          <p:cNvSpPr>
            <a:spLocks xmlns:a="http://schemas.openxmlformats.org/drawingml/2006/main" noGrp="1"/>
          </p:cNvSpPr>
          <p:nvPr/>
        </p:nvSpPr>
        <p:spPr>
          <a:xfrm xmlns:a="http://schemas.openxmlformats.org/drawingml/2006/main">
            <a:off x="9144000" y="4095750"/>
            <a:ext cx="742950" cy="742950"/>
          </a:xfrm>
          <a:prstGeom xmlns:a="http://schemas.openxmlformats.org/drawingml/2006/main" prst="ellipse">
            <a:avLst/>
          </a:prstGeom>
          <a:solidFill xmlns:a="http://schemas.openxmlformats.org/drawingml/2006/main">
            <a:srgbClr val="FDE2E0"/>
          </a:solidFill>
          <a:ln xmlns:a="http://schemas.openxmlformats.org/drawingml/2006/main" w="19050">
            <a:solidFill>
              <a:srgbClr val="E7524B"/>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75" b="1">
                <a:solidFill>
                  <a:srgbClr val="142235"/>
                </a:solidFill>
                <a:latin typeface="Arial"/>
                <a:ea typeface="Arial"/>
                <a:cs typeface="Arial"/>
              </a:defRPr>
            </a:pPr>
            <a:r>
              <a:rPr sz="1275" b="1">
                <a:solidFill>
                  <a:srgbClr val="142235"/>
                </a:solidFill>
                <a:latin typeface="Arial"/>
                <a:ea typeface="Arial"/>
                <a:cs typeface="Arial"/>
              </a:rPr>
              <a:t>Txn</a:t>
            </a:r>
          </a:p>
        </p:txBody>
      </p:sp>
      <p:sp>
        <p:nvSpPr>
          <p:cNvPr id="22" name="">
            <a:extLst xmlns:a="http://schemas.openxmlformats.org/drawingml/2006/main">
              <a:ext uri="{FF2B5EF4-FFF2-40B4-BE49-F238E27FC236}">
                <a16:creationId xmlns:a16="http://schemas.microsoft.com/office/drawing/2014/main" id="{30A68678-FCC5-483A-83A5-AADA676D5F13}"/>
              </a:ext>
            </a:extLst>
          </p:cNvPr>
          <p:cNvSpPr>
            <a:spLocks xmlns:a="http://schemas.openxmlformats.org/drawingml/2006/main" noGrp="1"/>
          </p:cNvSpPr>
          <p:nvPr/>
        </p:nvSpPr>
        <p:spPr>
          <a:xfrm xmlns:a="http://schemas.openxmlformats.org/drawingml/2006/main">
            <a:off x="7000875" y="51435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425" b="1">
                <a:solidFill>
                  <a:srgbClr val="091B33"/>
                </a:solidFill>
                <a:latin typeface="Arial"/>
                <a:ea typeface="Arial"/>
                <a:cs typeface="Arial"/>
              </a:defRPr>
            </a:pPr>
            <a:r>
              <a:rPr sz="1425" b="1">
                <a:solidFill>
                  <a:srgbClr val="091B33"/>
                </a:solidFill>
                <a:latin typeface="Arial"/>
                <a:ea typeface="Arial"/>
                <a:cs typeface="Arial"/>
              </a:rPr>
              <a:t>Shared entities expose repeated behaviour and connected activity for investigator review.</a:t>
            </a:r>
          </a:p>
        </p:txBody>
      </p:sp>
      <p:sp>
        <p:nvSpPr>
          <p:cNvPr id="23" name="">
            <a:extLst xmlns:a="http://schemas.openxmlformats.org/drawingml/2006/main">
              <a:ext uri="{FF2B5EF4-FFF2-40B4-BE49-F238E27FC236}">
                <a16:creationId xmlns:a16="http://schemas.microsoft.com/office/drawing/2014/main" id="{750B4AED-3A9C-4124-AF03-E4CAD83E05BB}"/>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24" name="">
            <a:extLst xmlns:a="http://schemas.openxmlformats.org/drawingml/2006/main">
              <a:ext uri="{FF2B5EF4-FFF2-40B4-BE49-F238E27FC236}">
                <a16:creationId xmlns:a16="http://schemas.microsoft.com/office/drawing/2014/main" id="{243CFDA6-ED10-4ECD-A459-E586536C89FA}"/>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Conceptual view. A connection is an investigation lead, not proof of collusion.</a:t>
            </a:r>
          </a:p>
        </p:txBody>
      </p:sp>
    </p:spTree>
    <p:extLst>
      <p:ext uri="{BB962C8B-B14F-4D97-AF65-F5344CB8AC3E}">
        <p14:creationId xmlns:p14="http://schemas.microsoft.com/office/powerpoint/2010/main" val="5247707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B8C4CC6-0B33-4694-A587-69F4A078CFC2}"/>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Entity-link graph</a:t>
            </a:r>
          </a:p>
        </p:txBody>
      </p:sp>
      <p:sp>
        <p:nvSpPr>
          <p:cNvPr id="2" name="">
            <a:extLst xmlns:a="http://schemas.openxmlformats.org/drawingml/2006/main">
              <a:ext uri="{FF2B5EF4-FFF2-40B4-BE49-F238E27FC236}">
                <a16:creationId xmlns:a16="http://schemas.microsoft.com/office/drawing/2014/main" id="{9BF7723A-C614-41A2-BDD4-E078F0CE0957}"/>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3 / 10</a:t>
            </a:r>
          </a:p>
        </p:txBody>
      </p:sp>
      <p:sp>
        <p:nvSpPr>
          <p:cNvPr id="3" name="">
            <a:extLst xmlns:a="http://schemas.openxmlformats.org/drawingml/2006/main">
              <a:ext uri="{FF2B5EF4-FFF2-40B4-BE49-F238E27FC236}">
                <a16:creationId xmlns:a16="http://schemas.microsoft.com/office/drawing/2014/main" id="{B87DC11A-18F6-42DD-A2F9-7C51B2350E9A}"/>
              </a:ext>
            </a:extLst>
          </p:cNvPr>
          <p:cNvSpPr>
            <a:spLocks xmlns:a="http://schemas.openxmlformats.org/drawingml/2006/main" noGrp="1"/>
          </p:cNvSpPr>
          <p:nvPr/>
        </p:nvSpPr>
        <p:spPr>
          <a:xfrm xmlns:a="http://schemas.openxmlformats.org/drawingml/2006/main" flipH="0" flipV="0">
            <a:off x="2714625" y="2333625"/>
            <a:ext cx="2905125" cy="809625"/>
          </a:xfrm>
          <a:prstGeom xmlns:a="http://schemas.openxmlformats.org/drawingml/2006/main" prst="line">
            <a:avLst/>
          </a:prstGeom>
          <a:noFill xmlns:a="http://schemas.openxmlformats.org/drawingml/2006/main"/>
          <a:ln xmlns:a="http://schemas.openxmlformats.org/drawingml/2006/main" w="19050">
            <a:solidFill>
              <a:srgbClr val="C8D3E0"/>
            </a:solidFill>
            <a:prstDash val="solid"/>
          </a:ln>
        </p:spPr>
      </p:sp>
      <p:sp>
        <p:nvSpPr>
          <p:cNvPr id="4" name="">
            <a:extLst xmlns:a="http://schemas.openxmlformats.org/drawingml/2006/main">
              <a:ext uri="{FF2B5EF4-FFF2-40B4-BE49-F238E27FC236}">
                <a16:creationId xmlns:a16="http://schemas.microsoft.com/office/drawing/2014/main" id="{AC0F9B28-A888-408E-A491-3AEE427A6B7A}"/>
              </a:ext>
            </a:extLst>
          </p:cNvPr>
          <p:cNvSpPr>
            <a:spLocks xmlns:a="http://schemas.openxmlformats.org/drawingml/2006/main" noGrp="1"/>
          </p:cNvSpPr>
          <p:nvPr/>
        </p:nvSpPr>
        <p:spPr>
          <a:xfrm xmlns:a="http://schemas.openxmlformats.org/drawingml/2006/main" flipH="0" flipV="1">
            <a:off x="2714625" y="3333750"/>
            <a:ext cx="2905125" cy="714375"/>
          </a:xfrm>
          <a:prstGeom xmlns:a="http://schemas.openxmlformats.org/drawingml/2006/main" prst="line">
            <a:avLst/>
          </a:prstGeom>
          <a:noFill xmlns:a="http://schemas.openxmlformats.org/drawingml/2006/main"/>
          <a:ln xmlns:a="http://schemas.openxmlformats.org/drawingml/2006/main" w="19050">
            <a:solidFill>
              <a:srgbClr val="C8D3E0"/>
            </a:solidFill>
            <a:prstDash val="solid"/>
          </a:ln>
        </p:spPr>
      </p:sp>
      <p:sp>
        <p:nvSpPr>
          <p:cNvPr id="5" name="">
            <a:extLst xmlns:a="http://schemas.openxmlformats.org/drawingml/2006/main">
              <a:ext uri="{FF2B5EF4-FFF2-40B4-BE49-F238E27FC236}">
                <a16:creationId xmlns:a16="http://schemas.microsoft.com/office/drawing/2014/main" id="{B4059FAF-3213-448D-988E-A220D41DA72A}"/>
              </a:ext>
            </a:extLst>
          </p:cNvPr>
          <p:cNvSpPr>
            <a:spLocks xmlns:a="http://schemas.openxmlformats.org/drawingml/2006/main" noGrp="1"/>
          </p:cNvSpPr>
          <p:nvPr/>
        </p:nvSpPr>
        <p:spPr>
          <a:xfrm xmlns:a="http://schemas.openxmlformats.org/drawingml/2006/main" flipH="0" flipV="1">
            <a:off x="5619750" y="1952625"/>
            <a:ext cx="3286125" cy="1285875"/>
          </a:xfrm>
          <a:prstGeom xmlns:a="http://schemas.openxmlformats.org/drawingml/2006/main" prst="line">
            <a:avLst/>
          </a:prstGeom>
          <a:noFill xmlns:a="http://schemas.openxmlformats.org/drawingml/2006/main"/>
          <a:ln xmlns:a="http://schemas.openxmlformats.org/drawingml/2006/main" w="19050">
            <a:solidFill>
              <a:srgbClr val="C8D3E0"/>
            </a:solidFill>
            <a:prstDash val="solid"/>
          </a:ln>
        </p:spPr>
      </p:sp>
      <p:sp>
        <p:nvSpPr>
          <p:cNvPr id="6" name="">
            <a:extLst xmlns:a="http://schemas.openxmlformats.org/drawingml/2006/main">
              <a:ext uri="{FF2B5EF4-FFF2-40B4-BE49-F238E27FC236}">
                <a16:creationId xmlns:a16="http://schemas.microsoft.com/office/drawing/2014/main" id="{85D45B56-77E1-49FC-B6D0-1EF1E10A3991}"/>
              </a:ext>
            </a:extLst>
          </p:cNvPr>
          <p:cNvSpPr>
            <a:spLocks xmlns:a="http://schemas.openxmlformats.org/drawingml/2006/main" noGrp="1"/>
          </p:cNvSpPr>
          <p:nvPr/>
        </p:nvSpPr>
        <p:spPr>
          <a:xfrm xmlns:a="http://schemas.openxmlformats.org/drawingml/2006/main" flipH="0" flipV="0">
            <a:off x="5619750" y="3238500"/>
            <a:ext cx="3619500" cy="0"/>
          </a:xfrm>
          <a:prstGeom xmlns:a="http://schemas.openxmlformats.org/drawingml/2006/main" prst="line">
            <a:avLst/>
          </a:prstGeom>
          <a:noFill xmlns:a="http://schemas.openxmlformats.org/drawingml/2006/main"/>
          <a:ln xmlns:a="http://schemas.openxmlformats.org/drawingml/2006/main" w="19050">
            <a:solidFill>
              <a:srgbClr val="C8D3E0"/>
            </a:solidFill>
            <a:prstDash val="solid"/>
          </a:ln>
        </p:spPr>
      </p:sp>
      <p:sp>
        <p:nvSpPr>
          <p:cNvPr id="7" name="">
            <a:extLst xmlns:a="http://schemas.openxmlformats.org/drawingml/2006/main">
              <a:ext uri="{FF2B5EF4-FFF2-40B4-BE49-F238E27FC236}">
                <a16:creationId xmlns:a16="http://schemas.microsoft.com/office/drawing/2014/main" id="{E7D9F7F7-2438-4063-BECD-B759A035817C}"/>
              </a:ext>
            </a:extLst>
          </p:cNvPr>
          <p:cNvSpPr>
            <a:spLocks xmlns:a="http://schemas.openxmlformats.org/drawingml/2006/main" noGrp="1"/>
          </p:cNvSpPr>
          <p:nvPr/>
        </p:nvSpPr>
        <p:spPr>
          <a:xfrm xmlns:a="http://schemas.openxmlformats.org/drawingml/2006/main" flipH="0" flipV="0">
            <a:off x="5619750" y="3238500"/>
            <a:ext cx="3286125" cy="1428750"/>
          </a:xfrm>
          <a:prstGeom xmlns:a="http://schemas.openxmlformats.org/drawingml/2006/main" prst="line">
            <a:avLst/>
          </a:prstGeom>
          <a:noFill xmlns:a="http://schemas.openxmlformats.org/drawingml/2006/main"/>
          <a:ln xmlns:a="http://schemas.openxmlformats.org/drawingml/2006/main" w="19050">
            <a:solidFill>
              <a:srgbClr val="C8D3E0"/>
            </a:solidFill>
            <a:prstDash val="solid"/>
          </a:ln>
        </p:spPr>
      </p:sp>
      <p:sp>
        <p:nvSpPr>
          <p:cNvPr id="8" name="">
            <a:extLst xmlns:a="http://schemas.openxmlformats.org/drawingml/2006/main">
              <a:ext uri="{FF2B5EF4-FFF2-40B4-BE49-F238E27FC236}">
                <a16:creationId xmlns:a16="http://schemas.microsoft.com/office/drawing/2014/main" id="{E980B43D-884F-4983-B84D-CD31A9D5C496}"/>
              </a:ext>
            </a:extLst>
          </p:cNvPr>
          <p:cNvSpPr>
            <a:spLocks xmlns:a="http://schemas.openxmlformats.org/drawingml/2006/main" noGrp="1"/>
          </p:cNvSpPr>
          <p:nvPr/>
        </p:nvSpPr>
        <p:spPr>
          <a:xfrm xmlns:a="http://schemas.openxmlformats.org/drawingml/2006/main">
            <a:off x="2000250" y="1857375"/>
            <a:ext cx="1028700" cy="1028700"/>
          </a:xfrm>
          <a:prstGeom xmlns:a="http://schemas.openxmlformats.org/drawingml/2006/main" prst="ellipse">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75" b="1">
                <a:solidFill>
                  <a:srgbClr val="142235"/>
                </a:solidFill>
                <a:latin typeface="Arial"/>
                <a:ea typeface="Arial"/>
                <a:cs typeface="Arial"/>
              </a:defRPr>
            </a:pPr>
            <a:r>
              <a:rPr sz="1275" b="1">
                <a:solidFill>
                  <a:srgbClr val="142235"/>
                </a:solidFill>
                <a:latin typeface="Arial"/>
                <a:ea typeface="Arial"/>
                <a:cs typeface="Arial"/>
              </a:rPr>
              <a:t>Card</a:t>
            </a:r>
          </a:p>
          <a:p xmlns:a="http://schemas.openxmlformats.org/drawingml/2006/main">
            <a:pPr algn="ctr">
              <a:defRPr sz="1275" b="1">
                <a:solidFill>
                  <a:srgbClr val="142235"/>
                </a:solidFill>
                <a:latin typeface="Arial"/>
                <a:ea typeface="Arial"/>
                <a:cs typeface="Arial"/>
              </a:defRPr>
            </a:pPr>
            <a:r>
              <a:rPr sz="1275" b="1">
                <a:solidFill>
                  <a:srgbClr val="142235"/>
                </a:solidFill>
                <a:latin typeface="Arial"/>
                <a:ea typeface="Arial"/>
                <a:cs typeface="Arial"/>
              </a:rPr>
              <a:t>proxy</a:t>
            </a:r>
          </a:p>
        </p:txBody>
      </p:sp>
      <p:sp>
        <p:nvSpPr>
          <p:cNvPr id="9" name="">
            <a:extLst xmlns:a="http://schemas.openxmlformats.org/drawingml/2006/main">
              <a:ext uri="{FF2B5EF4-FFF2-40B4-BE49-F238E27FC236}">
                <a16:creationId xmlns:a16="http://schemas.microsoft.com/office/drawing/2014/main" id="{4E2EB32D-B376-40FD-83D4-1CC5F0D477A1}"/>
              </a:ext>
            </a:extLst>
          </p:cNvPr>
          <p:cNvSpPr>
            <a:spLocks xmlns:a="http://schemas.openxmlformats.org/drawingml/2006/main" noGrp="1"/>
          </p:cNvSpPr>
          <p:nvPr/>
        </p:nvSpPr>
        <p:spPr>
          <a:xfrm xmlns:a="http://schemas.openxmlformats.org/drawingml/2006/main">
            <a:off x="1924050" y="3571875"/>
            <a:ext cx="1181100" cy="1028700"/>
          </a:xfrm>
          <a:prstGeom xmlns:a="http://schemas.openxmlformats.org/drawingml/2006/main" prst="ellipse">
            <a:avLst/>
          </a:prstGeom>
          <a:solidFill xmlns:a="http://schemas.openxmlformats.org/drawingml/2006/main">
            <a:srgbClr val="D9F3EE"/>
          </a:solidFill>
          <a:ln xmlns:a="http://schemas.openxmlformats.org/drawingml/2006/main" w="19050">
            <a:solidFill>
              <a:srgbClr val="0F9D8A"/>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125" b="1">
                <a:solidFill>
                  <a:srgbClr val="142235"/>
                </a:solidFill>
                <a:latin typeface="Arial"/>
                <a:ea typeface="Arial"/>
                <a:cs typeface="Arial"/>
              </a:defRPr>
            </a:pPr>
            <a:r>
              <a:rPr sz="1125" b="1">
                <a:solidFill>
                  <a:srgbClr val="142235"/>
                </a:solidFill>
                <a:latin typeface="Arial"/>
                <a:ea typeface="Arial"/>
                <a:cs typeface="Arial"/>
              </a:rPr>
              <a:t>Customer</a:t>
            </a:r>
          </a:p>
          <a:p xmlns:a="http://schemas.openxmlformats.org/drawingml/2006/main">
            <a:pPr algn="ctr">
              <a:defRPr sz="1125" b="1">
                <a:solidFill>
                  <a:srgbClr val="142235"/>
                </a:solidFill>
                <a:latin typeface="Arial"/>
                <a:ea typeface="Arial"/>
                <a:cs typeface="Arial"/>
              </a:defRPr>
            </a:pPr>
            <a:r>
              <a:rPr sz="1125" b="1">
                <a:solidFill>
                  <a:srgbClr val="142235"/>
                </a:solidFill>
                <a:latin typeface="Arial"/>
                <a:ea typeface="Arial"/>
                <a:cs typeface="Arial"/>
              </a:rPr>
              <a:t>proxy</a:t>
            </a:r>
          </a:p>
        </p:txBody>
      </p:sp>
      <p:sp>
        <p:nvSpPr>
          <p:cNvPr id="10" name="">
            <a:extLst xmlns:a="http://schemas.openxmlformats.org/drawingml/2006/main">
              <a:ext uri="{FF2B5EF4-FFF2-40B4-BE49-F238E27FC236}">
                <a16:creationId xmlns:a16="http://schemas.microsoft.com/office/drawing/2014/main" id="{E59AD6C8-F587-421C-A5FD-FFB482A8F966}"/>
              </a:ext>
            </a:extLst>
          </p:cNvPr>
          <p:cNvSpPr>
            <a:spLocks xmlns:a="http://schemas.openxmlformats.org/drawingml/2006/main" noGrp="1"/>
          </p:cNvSpPr>
          <p:nvPr/>
        </p:nvSpPr>
        <p:spPr>
          <a:xfrm xmlns:a="http://schemas.openxmlformats.org/drawingml/2006/main">
            <a:off x="4905375" y="2714625"/>
            <a:ext cx="1476375" cy="1143000"/>
          </a:xfrm>
          <a:prstGeom xmlns:a="http://schemas.openxmlformats.org/drawingml/2006/main" prst="ellipse">
            <a:avLst/>
          </a:prstGeom>
          <a:solidFill xmlns:a="http://schemas.openxmlformats.org/drawingml/2006/main">
            <a:srgbClr val="091B33"/>
          </a:solidFill>
          <a:ln xmlns:a="http://schemas.openxmlformats.org/drawingml/2006/main" w="19050">
            <a:solidFill>
              <a:srgbClr val="091B33"/>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Transaction</a:t>
            </a:r>
          </a:p>
        </p:txBody>
      </p:sp>
      <p:sp>
        <p:nvSpPr>
          <p:cNvPr id="11" name="">
            <a:extLst xmlns:a="http://schemas.openxmlformats.org/drawingml/2006/main">
              <a:ext uri="{FF2B5EF4-FFF2-40B4-BE49-F238E27FC236}">
                <a16:creationId xmlns:a16="http://schemas.microsoft.com/office/drawing/2014/main" id="{FB419B15-BC60-4C7A-84B0-F718577C861F}"/>
              </a:ext>
            </a:extLst>
          </p:cNvPr>
          <p:cNvSpPr>
            <a:spLocks xmlns:a="http://schemas.openxmlformats.org/drawingml/2006/main" noGrp="1"/>
          </p:cNvSpPr>
          <p:nvPr/>
        </p:nvSpPr>
        <p:spPr>
          <a:xfrm xmlns:a="http://schemas.openxmlformats.org/drawingml/2006/main">
            <a:off x="8524875" y="1476375"/>
            <a:ext cx="1028700" cy="1028700"/>
          </a:xfrm>
          <a:prstGeom xmlns:a="http://schemas.openxmlformats.org/drawingml/2006/main" prst="ellipse">
            <a:avLst/>
          </a:prstGeom>
          <a:solidFill xmlns:a="http://schemas.openxmlformats.org/drawingml/2006/main">
            <a:srgbClr val="D9F3EE"/>
          </a:solidFill>
          <a:ln xmlns:a="http://schemas.openxmlformats.org/drawingml/2006/main" w="19050">
            <a:solidFill>
              <a:srgbClr val="0F9D8A"/>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75" b="1">
                <a:solidFill>
                  <a:srgbClr val="142235"/>
                </a:solidFill>
                <a:latin typeface="Arial"/>
                <a:ea typeface="Arial"/>
                <a:cs typeface="Arial"/>
              </a:defRPr>
            </a:pPr>
            <a:r>
              <a:rPr sz="1275" b="1">
                <a:solidFill>
                  <a:srgbClr val="142235"/>
                </a:solidFill>
                <a:latin typeface="Arial"/>
                <a:ea typeface="Arial"/>
                <a:cs typeface="Arial"/>
              </a:rPr>
              <a:t>Device</a:t>
            </a:r>
          </a:p>
        </p:txBody>
      </p:sp>
      <p:sp>
        <p:nvSpPr>
          <p:cNvPr id="12" name="">
            <a:extLst xmlns:a="http://schemas.openxmlformats.org/drawingml/2006/main">
              <a:ext uri="{FF2B5EF4-FFF2-40B4-BE49-F238E27FC236}">
                <a16:creationId xmlns:a16="http://schemas.microsoft.com/office/drawing/2014/main" id="{E84C02F3-731B-498A-AEE8-E9DDBE58BB91}"/>
              </a:ext>
            </a:extLst>
          </p:cNvPr>
          <p:cNvSpPr>
            <a:spLocks xmlns:a="http://schemas.openxmlformats.org/drawingml/2006/main" noGrp="1"/>
          </p:cNvSpPr>
          <p:nvPr/>
        </p:nvSpPr>
        <p:spPr>
          <a:xfrm xmlns:a="http://schemas.openxmlformats.org/drawingml/2006/main">
            <a:off x="8858250" y="2714625"/>
            <a:ext cx="1028700" cy="1028700"/>
          </a:xfrm>
          <a:prstGeom xmlns:a="http://schemas.openxmlformats.org/drawingml/2006/main" prst="ellipse">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00" b="1">
                <a:solidFill>
                  <a:srgbClr val="142235"/>
                </a:solidFill>
                <a:latin typeface="Arial"/>
                <a:ea typeface="Arial"/>
                <a:cs typeface="Arial"/>
              </a:defRPr>
            </a:pPr>
            <a:r>
              <a:rPr sz="1200" b="1">
                <a:solidFill>
                  <a:srgbClr val="142235"/>
                </a:solidFill>
                <a:latin typeface="Arial"/>
                <a:ea typeface="Arial"/>
                <a:cs typeface="Arial"/>
              </a:rPr>
              <a:t>Address</a:t>
            </a:r>
          </a:p>
          <a:p xmlns:a="http://schemas.openxmlformats.org/drawingml/2006/main">
            <a:pPr algn="ctr">
              <a:defRPr sz="1200" b="1">
                <a:solidFill>
                  <a:srgbClr val="142235"/>
                </a:solidFill>
                <a:latin typeface="Arial"/>
                <a:ea typeface="Arial"/>
                <a:cs typeface="Arial"/>
              </a:defRPr>
            </a:pPr>
            <a:r>
              <a:rPr sz="1200" b="1">
                <a:solidFill>
                  <a:srgbClr val="142235"/>
                </a:solidFill>
                <a:latin typeface="Arial"/>
                <a:ea typeface="Arial"/>
                <a:cs typeface="Arial"/>
              </a:rPr>
              <a:t>proxy</a:t>
            </a:r>
          </a:p>
        </p:txBody>
      </p:sp>
      <p:sp>
        <p:nvSpPr>
          <p:cNvPr id="13" name="">
            <a:extLst xmlns:a="http://schemas.openxmlformats.org/drawingml/2006/main">
              <a:ext uri="{FF2B5EF4-FFF2-40B4-BE49-F238E27FC236}">
                <a16:creationId xmlns:a16="http://schemas.microsoft.com/office/drawing/2014/main" id="{B8757B57-C8BA-4EA2-BD0E-6DD3B6F2555A}"/>
              </a:ext>
            </a:extLst>
          </p:cNvPr>
          <p:cNvSpPr>
            <a:spLocks xmlns:a="http://schemas.openxmlformats.org/drawingml/2006/main" noGrp="1"/>
          </p:cNvSpPr>
          <p:nvPr/>
        </p:nvSpPr>
        <p:spPr>
          <a:xfrm xmlns:a="http://schemas.openxmlformats.org/drawingml/2006/main">
            <a:off x="8420100" y="4191000"/>
            <a:ext cx="1257300" cy="1028700"/>
          </a:xfrm>
          <a:prstGeom xmlns:a="http://schemas.openxmlformats.org/drawingml/2006/main" prst="ellipse">
            <a:avLst/>
          </a:prstGeom>
          <a:solidFill xmlns:a="http://schemas.openxmlformats.org/drawingml/2006/main">
            <a:srgbClr val="FEF0C7"/>
          </a:solidFill>
          <a:ln xmlns:a="http://schemas.openxmlformats.org/drawingml/2006/main" w="19050">
            <a:solidFill>
              <a:srgbClr val="F59E0B"/>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125" b="1">
                <a:solidFill>
                  <a:srgbClr val="142235"/>
                </a:solidFill>
                <a:latin typeface="Arial"/>
                <a:ea typeface="Arial"/>
                <a:cs typeface="Arial"/>
              </a:defRPr>
            </a:pPr>
            <a:r>
              <a:rPr sz="1125" b="1">
                <a:solidFill>
                  <a:srgbClr val="142235"/>
                </a:solidFill>
                <a:latin typeface="Arial"/>
                <a:ea typeface="Arial"/>
                <a:cs typeface="Arial"/>
              </a:rPr>
              <a:t>Recipient</a:t>
            </a:r>
          </a:p>
          <a:p xmlns:a="http://schemas.openxmlformats.org/drawingml/2006/main">
            <a:pPr algn="ctr">
              <a:defRPr sz="1125" b="1">
                <a:solidFill>
                  <a:srgbClr val="142235"/>
                </a:solidFill>
                <a:latin typeface="Arial"/>
                <a:ea typeface="Arial"/>
                <a:cs typeface="Arial"/>
              </a:defRPr>
            </a:pPr>
            <a:r>
              <a:rPr sz="1125" b="1">
                <a:solidFill>
                  <a:srgbClr val="142235"/>
                </a:solidFill>
                <a:latin typeface="Arial"/>
                <a:ea typeface="Arial"/>
                <a:cs typeface="Arial"/>
              </a:rPr>
              <a:t>proxy</a:t>
            </a:r>
          </a:p>
        </p:txBody>
      </p:sp>
      <p:sp>
        <p:nvSpPr>
          <p:cNvPr id="14" name="">
            <a:extLst xmlns:a="http://schemas.openxmlformats.org/drawingml/2006/main">
              <a:ext uri="{FF2B5EF4-FFF2-40B4-BE49-F238E27FC236}">
                <a16:creationId xmlns:a16="http://schemas.microsoft.com/office/drawing/2014/main" id="{D153BE8C-46C2-493E-BAF7-FE78D50DFBE3}"/>
              </a:ext>
            </a:extLst>
          </p:cNvPr>
          <p:cNvSpPr>
            <a:spLocks xmlns:a="http://schemas.openxmlformats.org/drawingml/2006/main" noGrp="1"/>
          </p:cNvSpPr>
          <p:nvPr/>
        </p:nvSpPr>
        <p:spPr>
          <a:xfrm xmlns:a="http://schemas.openxmlformats.org/drawingml/2006/main">
            <a:off x="2333625" y="5524500"/>
            <a:ext cx="7524750" cy="571500"/>
          </a:xfrm>
          <a:prstGeom xmlns:a="http://schemas.openxmlformats.org/drawingml/2006/main" prst="roundRect">
            <a:avLst>
              <a:gd name="adj" fmla="val 13333"/>
            </a:avLst>
          </a:prstGeom>
          <a:solidFill xmlns:a="http://schemas.openxmlformats.org/drawingml/2006/main">
            <a:srgbClr val="EEF2F7"/>
          </a:solidFill>
          <a:ln xmlns:a="http://schemas.openxmlformats.org/drawingml/2006/main" w="9525">
            <a:solidFill>
              <a:srgbClr val="C8D3E0"/>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275" b="0">
                <a:solidFill>
                  <a:srgbClr val="53657A"/>
                </a:solidFill>
                <a:latin typeface="Arial"/>
                <a:ea typeface="Arial"/>
                <a:cs typeface="Arial"/>
              </a:defRPr>
            </a:pPr>
            <a:r>
              <a:rPr sz="1275" b="0">
                <a:solidFill>
                  <a:srgbClr val="53657A"/>
                </a:solidFill>
                <a:latin typeface="Arial"/>
                <a:ea typeface="Arial"/>
                <a:cs typeface="Arial"/>
              </a:rPr>
              <a:t>Email domains stay in broad degree features but are excluded from specific components and the dashboard graph.</a:t>
            </a:r>
          </a:p>
        </p:txBody>
      </p:sp>
      <p:sp>
        <p:nvSpPr>
          <p:cNvPr id="15" name="">
            <a:extLst xmlns:a="http://schemas.openxmlformats.org/drawingml/2006/main">
              <a:ext uri="{FF2B5EF4-FFF2-40B4-BE49-F238E27FC236}">
                <a16:creationId xmlns:a16="http://schemas.microsoft.com/office/drawing/2014/main" id="{EEF9BAD1-4A98-40B7-881C-875A7F3FF7FB}"/>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16" name="">
            <a:extLst xmlns:a="http://schemas.openxmlformats.org/drawingml/2006/main">
              <a:ext uri="{FF2B5EF4-FFF2-40B4-BE49-F238E27FC236}">
                <a16:creationId xmlns:a16="http://schemas.microsoft.com/office/drawing/2014/main" id="{9D401456-6755-48A6-B904-C532D78D7FE1}"/>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IEEE-CIS customer and recipient nodes are anonymized proxies, not verified identities.</a:t>
            </a:r>
          </a:p>
        </p:txBody>
      </p:sp>
    </p:spTree>
    <p:extLst>
      <p:ext uri="{BB962C8B-B14F-4D97-AF65-F5344CB8AC3E}">
        <p14:creationId xmlns:p14="http://schemas.microsoft.com/office/powerpoint/2010/main" val="2117987357"/>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223634-411E-4F80-84EE-69F102AB6D56}"/>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Leakage-safe temporal validation</a:t>
            </a:r>
          </a:p>
        </p:txBody>
      </p:sp>
      <p:sp>
        <p:nvSpPr>
          <p:cNvPr id="2" name="">
            <a:extLst xmlns:a="http://schemas.openxmlformats.org/drawingml/2006/main">
              <a:ext uri="{FF2B5EF4-FFF2-40B4-BE49-F238E27FC236}">
                <a16:creationId xmlns:a16="http://schemas.microsoft.com/office/drawing/2014/main" id="{F4575DC1-9180-4C56-B16D-55F3BCC97EF9}"/>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4 / 10</a:t>
            </a:r>
          </a:p>
        </p:txBody>
      </p:sp>
      <p:sp>
        <p:nvSpPr>
          <p:cNvPr id="3" name="">
            <a:extLst xmlns:a="http://schemas.openxmlformats.org/drawingml/2006/main">
              <a:ext uri="{FF2B5EF4-FFF2-40B4-BE49-F238E27FC236}">
                <a16:creationId xmlns:a16="http://schemas.microsoft.com/office/drawing/2014/main" id="{021704D0-78FA-469A-84B2-0D29C9854E94}"/>
              </a:ext>
            </a:extLst>
          </p:cNvPr>
          <p:cNvSpPr>
            <a:spLocks xmlns:a="http://schemas.openxmlformats.org/drawingml/2006/main" noGrp="1"/>
          </p:cNvSpPr>
          <p:nvPr/>
        </p:nvSpPr>
        <p:spPr>
          <a:xfrm xmlns:a="http://schemas.openxmlformats.org/drawingml/2006/main">
            <a:off x="762000" y="1952625"/>
            <a:ext cx="4619625" cy="876300"/>
          </a:xfrm>
          <a:prstGeom xmlns:a="http://schemas.openxmlformats.org/drawingml/2006/main" prst="roundRect">
            <a:avLst>
              <a:gd name="adj" fmla="val 2174"/>
            </a:avLst>
          </a:prstGeom>
          <a:solidFill xmlns:a="http://schemas.openxmlformats.org/drawingml/2006/main">
            <a:srgbClr val="2878C8"/>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Train</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60%</a:t>
            </a:r>
          </a:p>
        </p:txBody>
      </p:sp>
      <p:sp>
        <p:nvSpPr>
          <p:cNvPr id="4" name="">
            <a:extLst xmlns:a="http://schemas.openxmlformats.org/drawingml/2006/main">
              <a:ext uri="{FF2B5EF4-FFF2-40B4-BE49-F238E27FC236}">
                <a16:creationId xmlns:a16="http://schemas.microsoft.com/office/drawing/2014/main" id="{CC37F74C-377F-4185-B6BD-750D708860C5}"/>
              </a:ext>
            </a:extLst>
          </p:cNvPr>
          <p:cNvSpPr>
            <a:spLocks xmlns:a="http://schemas.openxmlformats.org/drawingml/2006/main" noGrp="1"/>
          </p:cNvSpPr>
          <p:nvPr/>
        </p:nvSpPr>
        <p:spPr>
          <a:xfrm xmlns:a="http://schemas.openxmlformats.org/drawingml/2006/main">
            <a:off x="5381625" y="1952625"/>
            <a:ext cx="857250" cy="876300"/>
          </a:xfrm>
          <a:prstGeom xmlns:a="http://schemas.openxmlformats.org/drawingml/2006/main" prst="roundRect">
            <a:avLst>
              <a:gd name="adj" fmla="val 2222"/>
            </a:avLst>
          </a:prstGeom>
          <a:solidFill xmlns:a="http://schemas.openxmlformats.org/drawingml/2006/main">
            <a:srgbClr val="D5DCE5"/>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53657A"/>
                </a:solidFill>
                <a:latin typeface="Arial"/>
                <a:ea typeface="Arial"/>
                <a:cs typeface="Arial"/>
              </a:defRPr>
            </a:pPr>
            <a:r>
              <a:rPr sz="1350" b="1">
                <a:solidFill>
                  <a:srgbClr val="53657A"/>
                </a:solidFill>
                <a:latin typeface="Arial"/>
                <a:ea typeface="Arial"/>
                <a:cs typeface="Arial"/>
              </a:rPr>
              <a:t>24 h</a:t>
            </a:r>
          </a:p>
          <a:p xmlns:a="http://schemas.openxmlformats.org/drawingml/2006/main">
            <a:pPr algn="ctr">
              <a:defRPr sz="1350" b="1">
                <a:solidFill>
                  <a:srgbClr val="53657A"/>
                </a:solidFill>
                <a:latin typeface="Arial"/>
                <a:ea typeface="Arial"/>
                <a:cs typeface="Arial"/>
              </a:defRPr>
            </a:pPr>
            <a:r>
              <a:rPr sz="1350" b="1">
                <a:solidFill>
                  <a:srgbClr val="53657A"/>
                </a:solidFill>
                <a:latin typeface="Arial"/>
                <a:ea typeface="Arial"/>
                <a:cs typeface="Arial"/>
              </a:rPr>
              <a:t>purge</a:t>
            </a:r>
          </a:p>
        </p:txBody>
      </p:sp>
      <p:sp>
        <p:nvSpPr>
          <p:cNvPr id="5" name="">
            <a:extLst xmlns:a="http://schemas.openxmlformats.org/drawingml/2006/main">
              <a:ext uri="{FF2B5EF4-FFF2-40B4-BE49-F238E27FC236}">
                <a16:creationId xmlns:a16="http://schemas.microsoft.com/office/drawing/2014/main" id="{88130745-E0E4-4E7C-99BD-C6D1E5FA4454}"/>
              </a:ext>
            </a:extLst>
          </p:cNvPr>
          <p:cNvSpPr>
            <a:spLocks xmlns:a="http://schemas.openxmlformats.org/drawingml/2006/main" noGrp="1"/>
          </p:cNvSpPr>
          <p:nvPr/>
        </p:nvSpPr>
        <p:spPr>
          <a:xfrm xmlns:a="http://schemas.openxmlformats.org/drawingml/2006/main">
            <a:off x="6238875" y="1952625"/>
            <a:ext cx="1952625" cy="876300"/>
          </a:xfrm>
          <a:prstGeom xmlns:a="http://schemas.openxmlformats.org/drawingml/2006/main" prst="roundRect">
            <a:avLst>
              <a:gd name="adj" fmla="val 2174"/>
            </a:avLst>
          </a:prstGeom>
          <a:solidFill xmlns:a="http://schemas.openxmlformats.org/drawingml/2006/main">
            <a:srgbClr val="0F9D8A"/>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Validation</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3FC1F6CF-4EFE-489D-A759-5D8B8C9CE1CC}"/>
              </a:ext>
            </a:extLst>
          </p:cNvPr>
          <p:cNvSpPr>
            <a:spLocks xmlns:a="http://schemas.openxmlformats.org/drawingml/2006/main" noGrp="1"/>
          </p:cNvSpPr>
          <p:nvPr/>
        </p:nvSpPr>
        <p:spPr>
          <a:xfrm xmlns:a="http://schemas.openxmlformats.org/drawingml/2006/main">
            <a:off x="8191500" y="1952625"/>
            <a:ext cx="857250" cy="876300"/>
          </a:xfrm>
          <a:prstGeom xmlns:a="http://schemas.openxmlformats.org/drawingml/2006/main" prst="roundRect">
            <a:avLst>
              <a:gd name="adj" fmla="val 2222"/>
            </a:avLst>
          </a:prstGeom>
          <a:solidFill xmlns:a="http://schemas.openxmlformats.org/drawingml/2006/main">
            <a:srgbClr val="D5DCE5"/>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53657A"/>
                </a:solidFill>
                <a:latin typeface="Arial"/>
                <a:ea typeface="Arial"/>
                <a:cs typeface="Arial"/>
              </a:defRPr>
            </a:pPr>
            <a:r>
              <a:rPr sz="1350" b="1">
                <a:solidFill>
                  <a:srgbClr val="53657A"/>
                </a:solidFill>
                <a:latin typeface="Arial"/>
                <a:ea typeface="Arial"/>
                <a:cs typeface="Arial"/>
              </a:rPr>
              <a:t>24 h</a:t>
            </a:r>
          </a:p>
          <a:p xmlns:a="http://schemas.openxmlformats.org/drawingml/2006/main">
            <a:pPr algn="ctr">
              <a:defRPr sz="1350" b="1">
                <a:solidFill>
                  <a:srgbClr val="53657A"/>
                </a:solidFill>
                <a:latin typeface="Arial"/>
                <a:ea typeface="Arial"/>
                <a:cs typeface="Arial"/>
              </a:defRPr>
            </a:pPr>
            <a:r>
              <a:rPr sz="1350" b="1">
                <a:solidFill>
                  <a:srgbClr val="53657A"/>
                </a:solidFill>
                <a:latin typeface="Arial"/>
                <a:ea typeface="Arial"/>
                <a:cs typeface="Arial"/>
              </a:rPr>
              <a:t>purge</a:t>
            </a:r>
          </a:p>
        </p:txBody>
      </p:sp>
      <p:sp>
        <p:nvSpPr>
          <p:cNvPr id="7" name="">
            <a:extLst xmlns:a="http://schemas.openxmlformats.org/drawingml/2006/main">
              <a:ext uri="{FF2B5EF4-FFF2-40B4-BE49-F238E27FC236}">
                <a16:creationId xmlns:a16="http://schemas.microsoft.com/office/drawing/2014/main" id="{38298908-0CC3-4F42-B475-E4EE78118E79}"/>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oundRect">
            <a:avLst>
              <a:gd name="adj" fmla="val 2174"/>
            </a:avLst>
          </a:prstGeom>
          <a:solidFill xmlns:a="http://schemas.openxmlformats.org/drawingml/2006/main">
            <a:srgbClr val="F59E0B"/>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Test</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1442A20B-3E9C-491D-9CA8-C3D124874074}"/>
              </a:ext>
            </a:extLst>
          </p:cNvPr>
          <p:cNvSpPr>
            <a:spLocks xmlns:a="http://schemas.openxmlformats.org/drawingml/2006/main" noGrp="1"/>
          </p:cNvSpPr>
          <p:nvPr/>
        </p:nvSpPr>
        <p:spPr>
          <a:xfrm xmlns:a="http://schemas.openxmlformats.org/drawingml/2006/main">
            <a:off x="762000" y="15716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125" b="0">
                <a:solidFill>
                  <a:srgbClr val="7A899A"/>
                </a:solidFill>
                <a:latin typeface="Arial"/>
                <a:ea typeface="Arial"/>
                <a:cs typeface="Arial"/>
              </a:defRPr>
            </a:pPr>
            <a:r>
              <a:rPr sz="1125" b="0">
                <a:solidFill>
                  <a:srgbClr val="7A899A"/>
                </a:solidFill>
                <a:latin typeface="Arial"/>
                <a:ea typeface="Arial"/>
                <a:cs typeface="Arial"/>
              </a:rPr>
              <a:t>Earlier time</a:t>
            </a:r>
          </a:p>
        </p:txBody>
      </p:sp>
      <p:sp>
        <p:nvSpPr>
          <p:cNvPr id="9" name="">
            <a:extLst xmlns:a="http://schemas.openxmlformats.org/drawingml/2006/main">
              <a:ext uri="{FF2B5EF4-FFF2-40B4-BE49-F238E27FC236}">
                <a16:creationId xmlns:a16="http://schemas.microsoft.com/office/drawing/2014/main" id="{690848B9-62D8-47EE-8AFA-801384901337}"/>
              </a:ext>
            </a:extLst>
          </p:cNvPr>
          <p:cNvSpPr>
            <a:spLocks xmlns:a="http://schemas.openxmlformats.org/drawingml/2006/main" noGrp="1"/>
          </p:cNvSpPr>
          <p:nvPr/>
        </p:nvSpPr>
        <p:spPr>
          <a:xfrm xmlns:a="http://schemas.openxmlformats.org/drawingml/2006/main">
            <a:off x="9906000" y="15716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125" b="0">
                <a:solidFill>
                  <a:srgbClr val="7A899A"/>
                </a:solidFill>
                <a:latin typeface="Arial"/>
                <a:ea typeface="Arial"/>
                <a:cs typeface="Arial"/>
              </a:defRPr>
            </a:pPr>
            <a:r>
              <a:rPr sz="1125" b="0">
                <a:solidFill>
                  <a:srgbClr val="7A899A"/>
                </a:solidFill>
                <a:latin typeface="Arial"/>
                <a:ea typeface="Arial"/>
                <a:cs typeface="Arial"/>
              </a:rPr>
              <a:t>Later time</a:t>
            </a:r>
          </a:p>
        </p:txBody>
      </p:sp>
      <p:sp>
        <p:nvSpPr>
          <p:cNvPr id="10" name="">
            <a:extLst xmlns:a="http://schemas.openxmlformats.org/drawingml/2006/main">
              <a:ext uri="{FF2B5EF4-FFF2-40B4-BE49-F238E27FC236}">
                <a16:creationId xmlns:a16="http://schemas.microsoft.com/office/drawing/2014/main" id="{A2ECA2E2-B338-4735-B94A-F8898E6CE131}"/>
              </a:ext>
            </a:extLst>
          </p:cNvPr>
          <p:cNvSpPr>
            <a:spLocks xmlns:a="http://schemas.openxmlformats.org/drawingml/2006/main" noGrp="1"/>
          </p:cNvSpPr>
          <p:nvPr/>
        </p:nvSpPr>
        <p:spPr>
          <a:xfrm xmlns:a="http://schemas.openxmlformats.org/drawingml/2006/main">
            <a:off x="1666875" y="3667125"/>
            <a:ext cx="8858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38100" bIns="19050">
            <a:noAutofit/>
          </a:bodyPr>
          <a:lstStyle xmlns:a="http://schemas.openxmlformats.org/drawingml/2006/main"/>
          <a:p xmlns:a="http://schemas.openxmlformats.org/drawingml/2006/main">
            <a:pPr marL="228600" indent="-114300">
              <a:spcAft>
                <a:spcPts val="1200"/>
              </a:spcAft>
              <a:buChar char="•"/>
              <a:defRPr sz="1575">
                <a:solidFill>
                  <a:srgbClr val="142235"/>
                </a:solidFill>
                <a:latin typeface="Arial"/>
                <a:ea typeface="Arial"/>
                <a:cs typeface="Arial"/>
              </a:defRPr>
            </a:pPr>
            <a:r>
              <a:rPr sz="1575">
                <a:solidFill>
                  <a:srgbClr val="142235"/>
                </a:solidFill>
                <a:latin typeface="Arial"/>
                <a:ea typeface="Arial"/>
                <a:cs typeface="Arial"/>
              </a:rPr>
              <a:t>Preprocessing and thresholds learn from training rows only.</a:t>
            </a:r>
          </a:p>
          <a:p xmlns:a="http://schemas.openxmlformats.org/drawingml/2006/main">
            <a:pPr marL="228600" indent="-114300">
              <a:spcAft>
                <a:spcPts val="1200"/>
              </a:spcAft>
              <a:buChar char="•"/>
              <a:defRPr sz="1575">
                <a:solidFill>
                  <a:srgbClr val="142235"/>
                </a:solidFill>
                <a:latin typeface="Arial"/>
                <a:ea typeface="Arial"/>
                <a:cs typeface="Arial"/>
              </a:defRPr>
            </a:pPr>
            <a:r>
              <a:rPr sz="1575">
                <a:solidFill>
                  <a:srgbClr val="142235"/>
                </a:solidFill>
                <a:latin typeface="Arial"/>
                <a:ea typeface="Arial"/>
                <a:cs typeface="Arial"/>
              </a:rPr>
              <a:t>Graph features use relationships observed strictly before each event-time batch.</a:t>
            </a:r>
          </a:p>
          <a:p xmlns:a="http://schemas.openxmlformats.org/drawingml/2006/main">
            <a:pPr marL="228600" indent="-114300">
              <a:spcAft>
                <a:spcPts val="1200"/>
              </a:spcAft>
              <a:buChar char="•"/>
              <a:defRPr sz="1575">
                <a:solidFill>
                  <a:srgbClr val="142235"/>
                </a:solidFill>
                <a:latin typeface="Arial"/>
                <a:ea typeface="Arial"/>
                <a:cs typeface="Arial"/>
              </a:defRPr>
            </a:pPr>
            <a:r>
              <a:rPr sz="1575">
                <a:solidFill>
                  <a:srgbClr val="142235"/>
                </a:solidFill>
                <a:latin typeface="Arial"/>
                <a:ea typeface="Arial"/>
                <a:cs typeface="Arial"/>
              </a:rPr>
              <a:t>Neighbour outcomes use matured training labels only. Validation and test labels never enter state.</a:t>
            </a:r>
          </a:p>
        </p:txBody>
      </p:sp>
      <p:sp>
        <p:nvSpPr>
          <p:cNvPr id="11" name="">
            <a:extLst xmlns:a="http://schemas.openxmlformats.org/drawingml/2006/main">
              <a:ext uri="{FF2B5EF4-FFF2-40B4-BE49-F238E27FC236}">
                <a16:creationId xmlns:a16="http://schemas.microsoft.com/office/drawing/2014/main" id="{0B9813EC-C779-421C-8D12-5821B4EBE2EA}"/>
              </a:ext>
            </a:extLst>
          </p:cNvPr>
          <p:cNvSpPr>
            <a:spLocks xmlns:a="http://schemas.openxmlformats.org/drawingml/2006/main" noGrp="1"/>
          </p:cNvSpPr>
          <p:nvPr/>
        </p:nvSpPr>
        <p:spPr>
          <a:xfrm xmlns:a="http://schemas.openxmlformats.org/drawingml/2006/main">
            <a:off x="2905125" y="5572125"/>
            <a:ext cx="6381750" cy="457200"/>
          </a:xfrm>
          <a:prstGeom xmlns:a="http://schemas.openxmlformats.org/drawingml/2006/main" prst="roundRect">
            <a:avLst>
              <a:gd name="adj" fmla="val 16667"/>
            </a:avLst>
          </a:prstGeom>
          <a:solidFill xmlns:a="http://schemas.openxmlformats.org/drawingml/2006/main">
            <a:srgbClr val="091B3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Same-time transactions score before graph state updates</a:t>
            </a:r>
          </a:p>
        </p:txBody>
      </p:sp>
      <p:sp>
        <p:nvSpPr>
          <p:cNvPr id="12" name="">
            <a:extLst xmlns:a="http://schemas.openxmlformats.org/drawingml/2006/main">
              <a:ext uri="{FF2B5EF4-FFF2-40B4-BE49-F238E27FC236}">
                <a16:creationId xmlns:a16="http://schemas.microsoft.com/office/drawing/2014/main" id="{429D45E0-AFAD-48AF-A1D1-F19D72FA6EC0}"/>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13" name="">
            <a:extLst xmlns:a="http://schemas.openxmlformats.org/drawingml/2006/main">
              <a:ext uri="{FF2B5EF4-FFF2-40B4-BE49-F238E27FC236}">
                <a16:creationId xmlns:a16="http://schemas.microsoft.com/office/drawing/2014/main" id="{FDB84102-4D25-43BC-824A-5890BC566762}"/>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Current configuration uses chronological 60 / 20 / 20 periods with two 24-hour purge gaps.</a:t>
            </a:r>
          </a:p>
        </p:txBody>
      </p:sp>
    </p:spTree>
    <p:extLst>
      <p:ext uri="{BB962C8B-B14F-4D97-AF65-F5344CB8AC3E}">
        <p14:creationId xmlns:p14="http://schemas.microsoft.com/office/powerpoint/2010/main" val="1597348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2EE44A-401F-4C8B-82D9-401802B5F287}"/>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Feature and model design</a:t>
            </a:r>
          </a:p>
        </p:txBody>
      </p:sp>
      <p:sp>
        <p:nvSpPr>
          <p:cNvPr id="2" name="">
            <a:extLst xmlns:a="http://schemas.openxmlformats.org/drawingml/2006/main">
              <a:ext uri="{FF2B5EF4-FFF2-40B4-BE49-F238E27FC236}">
                <a16:creationId xmlns:a16="http://schemas.microsoft.com/office/drawing/2014/main" id="{183A416D-D719-41C4-8546-7BB5498DF8D4}"/>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5 / 10</a:t>
            </a:r>
          </a:p>
        </p:txBody>
      </p:sp>
      <p:sp>
        <p:nvSpPr>
          <p:cNvPr id="3" name="">
            <a:extLst xmlns:a="http://schemas.openxmlformats.org/drawingml/2006/main">
              <a:ext uri="{FF2B5EF4-FFF2-40B4-BE49-F238E27FC236}">
                <a16:creationId xmlns:a16="http://schemas.microsoft.com/office/drawing/2014/main" id="{52954A6B-4B9F-43D4-AC02-77E8B598E316}"/>
              </a:ext>
            </a:extLst>
          </p:cNvPr>
          <p:cNvSpPr>
            <a:spLocks xmlns:a="http://schemas.openxmlformats.org/drawingml/2006/main" noGrp="1"/>
          </p:cNvSpPr>
          <p:nvPr/>
        </p:nvSpPr>
        <p:spPr>
          <a:xfrm xmlns:a="http://schemas.openxmlformats.org/drawingml/2006/main">
            <a:off x="666750" y="1571625"/>
            <a:ext cx="2238375" cy="1095375"/>
          </a:xfrm>
          <a:prstGeom xmlns:a="http://schemas.openxmlformats.org/drawingml/2006/main" prst="roundRect">
            <a:avLst>
              <a:gd name="adj" fmla="val 6957"/>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Transaction inputs</a:t>
            </a:r>
          </a:p>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Amount, product, presence</a:t>
            </a:r>
          </a:p>
        </p:txBody>
      </p:sp>
      <p:sp>
        <p:nvSpPr>
          <p:cNvPr id="4" name="">
            <a:extLst xmlns:a="http://schemas.openxmlformats.org/drawingml/2006/main">
              <a:ext uri="{FF2B5EF4-FFF2-40B4-BE49-F238E27FC236}">
                <a16:creationId xmlns:a16="http://schemas.microsoft.com/office/drawing/2014/main" id="{76D8A748-1D34-4DF1-BB79-F2254BB1E1A7}"/>
              </a:ext>
            </a:extLst>
          </p:cNvPr>
          <p:cNvSpPr>
            <a:spLocks xmlns:a="http://schemas.openxmlformats.org/drawingml/2006/main" noGrp="1"/>
          </p:cNvSpPr>
          <p:nvPr/>
        </p:nvSpPr>
        <p:spPr>
          <a:xfrm xmlns:a="http://schemas.openxmlformats.org/drawingml/2006/main">
            <a:off x="3333750" y="1571625"/>
            <a:ext cx="2238375" cy="1095375"/>
          </a:xfrm>
          <a:prstGeom xmlns:a="http://schemas.openxmlformats.org/drawingml/2006/main" prst="roundRect">
            <a:avLst>
              <a:gd name="adj" fmla="val 6957"/>
            </a:avLst>
          </a:prstGeom>
          <a:solidFill xmlns:a="http://schemas.openxmlformats.org/drawingml/2006/main">
            <a:srgbClr val="D9F3EE"/>
          </a:solidFill>
          <a:ln xmlns:a="http://schemas.openxmlformats.org/drawingml/2006/main" w="19050">
            <a:solidFill>
              <a:srgbClr val="0F9D8A"/>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Historical graph</a:t>
            </a:r>
          </a:p>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Degree, components, PageRank</a:t>
            </a:r>
          </a:p>
        </p:txBody>
      </p:sp>
      <p:sp>
        <p:nvSpPr>
          <p:cNvPr id="5" name="">
            <a:extLst xmlns:a="http://schemas.openxmlformats.org/drawingml/2006/main">
              <a:ext uri="{FF2B5EF4-FFF2-40B4-BE49-F238E27FC236}">
                <a16:creationId xmlns:a16="http://schemas.microsoft.com/office/drawing/2014/main" id="{01922527-7DA2-42CF-94E5-8B21CBCAA630}"/>
              </a:ext>
            </a:extLst>
          </p:cNvPr>
          <p:cNvSpPr>
            <a:spLocks xmlns:a="http://schemas.openxmlformats.org/drawingml/2006/main" noGrp="1"/>
          </p:cNvSpPr>
          <p:nvPr/>
        </p:nvSpPr>
        <p:spPr>
          <a:xfrm xmlns:a="http://schemas.openxmlformats.org/drawingml/2006/main">
            <a:off x="6000750" y="1571625"/>
            <a:ext cx="2238375" cy="1095375"/>
          </a:xfrm>
          <a:prstGeom xmlns:a="http://schemas.openxmlformats.org/drawingml/2006/main" prst="roundRect">
            <a:avLst>
              <a:gd name="adj" fmla="val 6957"/>
            </a:avLst>
          </a:prstGeom>
          <a:solidFill xmlns:a="http://schemas.openxmlformats.org/drawingml/2006/main">
            <a:srgbClr val="FEF0C7"/>
          </a:solidFill>
          <a:ln xmlns:a="http://schemas.openxmlformats.org/drawingml/2006/main" w="19050">
            <a:solidFill>
              <a:srgbClr val="F59E0B"/>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Matured outcomes</a:t>
            </a:r>
          </a:p>
          <a:p xmlns:a="http://schemas.openxmlformats.org/drawingml/2006/main">
            <a:pPr algn="ctr">
              <a:defRPr sz="1350" b="1">
                <a:solidFill>
                  <a:srgbClr val="142235"/>
                </a:solidFill>
                <a:latin typeface="Arial"/>
                <a:ea typeface="Arial"/>
                <a:cs typeface="Arial"/>
              </a:defRPr>
            </a:pPr>
            <a:r>
              <a:rPr sz="1350" b="1">
                <a:solidFill>
                  <a:srgbClr val="142235"/>
                </a:solidFill>
                <a:latin typeface="Arial"/>
                <a:ea typeface="Arial"/>
                <a:cs typeface="Arial"/>
              </a:rPr>
              <a:t>Neighbour counts and ratio</a:t>
            </a:r>
          </a:p>
        </p:txBody>
      </p:sp>
      <p:sp>
        <p:nvSpPr>
          <p:cNvPr id="6" name="">
            <a:extLst xmlns:a="http://schemas.openxmlformats.org/drawingml/2006/main">
              <a:ext uri="{FF2B5EF4-FFF2-40B4-BE49-F238E27FC236}">
                <a16:creationId xmlns:a16="http://schemas.microsoft.com/office/drawing/2014/main" id="{4A7728E8-35F7-42D5-ADFE-79F0E0C62D4D}"/>
              </a:ext>
            </a:extLst>
          </p:cNvPr>
          <p:cNvSpPr>
            <a:spLocks xmlns:a="http://schemas.openxmlformats.org/drawingml/2006/main" noGrp="1"/>
          </p:cNvSpPr>
          <p:nvPr/>
        </p:nvSpPr>
        <p:spPr>
          <a:xfrm xmlns:a="http://schemas.openxmlformats.org/drawingml/2006/main">
            <a:off x="8667750" y="1571625"/>
            <a:ext cx="2714625" cy="1095375"/>
          </a:xfrm>
          <a:prstGeom xmlns:a="http://schemas.openxmlformats.org/drawingml/2006/main" prst="roundRect">
            <a:avLst>
              <a:gd name="adj" fmla="val 6957"/>
            </a:avLst>
          </a:prstGeom>
          <a:solidFill xmlns:a="http://schemas.openxmlformats.org/drawingml/2006/main">
            <a:srgbClr val="091B33"/>
          </a:solidFill>
          <a:ln xmlns:a="http://schemas.openxmlformats.org/drawingml/2006/main" w="19050">
            <a:solidFill>
              <a:srgbClr val="091B33"/>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Combined matrix</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48 transformed features</a:t>
            </a:r>
          </a:p>
        </p:txBody>
      </p:sp>
      <p:sp>
        <p:nvSpPr>
          <p:cNvPr id="7" name="">
            <a:extLst xmlns:a="http://schemas.openxmlformats.org/drawingml/2006/main">
              <a:ext uri="{FF2B5EF4-FFF2-40B4-BE49-F238E27FC236}">
                <a16:creationId xmlns:a16="http://schemas.microsoft.com/office/drawing/2014/main" id="{F86E9F93-BC3B-4D0F-809C-2EE22267FDE2}"/>
              </a:ext>
            </a:extLst>
          </p:cNvPr>
          <p:cNvSpPr>
            <a:spLocks xmlns:a="http://schemas.openxmlformats.org/drawingml/2006/main" noGrp="1"/>
          </p:cNvSpPr>
          <p:nvPr/>
        </p:nvSpPr>
        <p:spPr>
          <a:xfrm xmlns:a="http://schemas.openxmlformats.org/drawingml/2006/main" flipH="0" flipV="0">
            <a:off x="2905125" y="2114550"/>
            <a:ext cx="428625"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8" name="">
            <a:extLst xmlns:a="http://schemas.openxmlformats.org/drawingml/2006/main">
              <a:ext uri="{FF2B5EF4-FFF2-40B4-BE49-F238E27FC236}">
                <a16:creationId xmlns:a16="http://schemas.microsoft.com/office/drawing/2014/main" id="{261F4CC9-42C4-4C7C-A40E-0EC25F2B8FAC}"/>
              </a:ext>
            </a:extLst>
          </p:cNvPr>
          <p:cNvSpPr>
            <a:spLocks xmlns:a="http://schemas.openxmlformats.org/drawingml/2006/main" noGrp="1"/>
          </p:cNvSpPr>
          <p:nvPr/>
        </p:nvSpPr>
        <p:spPr>
          <a:xfrm xmlns:a="http://schemas.openxmlformats.org/drawingml/2006/main" flipH="0" flipV="0">
            <a:off x="5572125" y="2114550"/>
            <a:ext cx="428625"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9" name="">
            <a:extLst xmlns:a="http://schemas.openxmlformats.org/drawingml/2006/main">
              <a:ext uri="{FF2B5EF4-FFF2-40B4-BE49-F238E27FC236}">
                <a16:creationId xmlns:a16="http://schemas.microsoft.com/office/drawing/2014/main" id="{55D4D2CF-2049-46D3-916C-E1070D339B44}"/>
              </a:ext>
            </a:extLst>
          </p:cNvPr>
          <p:cNvSpPr>
            <a:spLocks xmlns:a="http://schemas.openxmlformats.org/drawingml/2006/main" noGrp="1"/>
          </p:cNvSpPr>
          <p:nvPr/>
        </p:nvSpPr>
        <p:spPr>
          <a:xfrm xmlns:a="http://schemas.openxmlformats.org/drawingml/2006/main" flipH="0" flipV="0">
            <a:off x="8239125" y="2114550"/>
            <a:ext cx="428625"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10" name="">
            <a:extLst xmlns:a="http://schemas.openxmlformats.org/drawingml/2006/main">
              <a:ext uri="{FF2B5EF4-FFF2-40B4-BE49-F238E27FC236}">
                <a16:creationId xmlns:a16="http://schemas.microsoft.com/office/drawing/2014/main" id="{F5C9998F-093D-48DA-BFD0-8771587FB760}"/>
              </a:ext>
            </a:extLst>
          </p:cNvPr>
          <p:cNvSpPr>
            <a:spLocks xmlns:a="http://schemas.openxmlformats.org/drawingml/2006/main" noGrp="1"/>
          </p:cNvSpPr>
          <p:nvPr/>
        </p:nvSpPr>
        <p:spPr>
          <a:xfrm xmlns:a="http://schemas.openxmlformats.org/drawingml/2006/main">
            <a:off x="809625" y="3333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800" b="1">
                <a:solidFill>
                  <a:srgbClr val="091B33"/>
                </a:solidFill>
                <a:latin typeface="Arial"/>
                <a:ea typeface="Arial"/>
                <a:cs typeface="Arial"/>
              </a:defRPr>
            </a:pPr>
            <a:r>
              <a:rPr sz="1800" b="1">
                <a:solidFill>
                  <a:srgbClr val="091B33"/>
                </a:solidFill>
                <a:latin typeface="Arial"/>
                <a:ea typeface="Arial"/>
                <a:cs typeface="Arial"/>
              </a:rPr>
              <a:t>Controlled comparison</a:t>
            </a:r>
          </a:p>
        </p:txBody>
      </p:sp>
      <p:sp>
        <p:nvSpPr>
          <p:cNvPr id="11" name="">
            <a:extLst xmlns:a="http://schemas.openxmlformats.org/drawingml/2006/main">
              <a:ext uri="{FF2B5EF4-FFF2-40B4-BE49-F238E27FC236}">
                <a16:creationId xmlns:a16="http://schemas.microsoft.com/office/drawing/2014/main" id="{3301C963-5DFA-4094-9002-A8E1AEC523C8}"/>
              </a:ext>
            </a:extLst>
          </p:cNvPr>
          <p:cNvSpPr>
            <a:spLocks xmlns:a="http://schemas.openxmlformats.org/drawingml/2006/main" noGrp="1"/>
          </p:cNvSpPr>
          <p:nvPr/>
        </p:nvSpPr>
        <p:spPr>
          <a:xfrm xmlns:a="http://schemas.openxmlformats.org/drawingml/2006/main">
            <a:off x="809625" y="3857625"/>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38100" bIns="19050">
            <a:noAutofit/>
          </a:bodyPr>
          <a:lstStyle xmlns:a="http://schemas.openxmlformats.org/drawingml/2006/main"/>
          <a:p xmlns:a="http://schemas.openxmlformats.org/drawingml/2006/main">
            <a:pPr marL="228600" indent="-114300">
              <a:spcAft>
                <a:spcPts val="1000"/>
              </a:spcAft>
              <a:buChar char="•"/>
              <a:defRPr sz="1500">
                <a:solidFill>
                  <a:srgbClr val="142235"/>
                </a:solidFill>
                <a:latin typeface="Arial"/>
                <a:ea typeface="Arial"/>
                <a:cs typeface="Arial"/>
              </a:defRPr>
            </a:pPr>
            <a:r>
              <a:rPr sz="1500">
                <a:solidFill>
                  <a:srgbClr val="142235"/>
                </a:solidFill>
                <a:latin typeface="Arial"/>
                <a:ea typeface="Arial"/>
                <a:cs typeface="Arial"/>
              </a:rPr>
              <a:t>Rules establish an operational reference point.</a:t>
            </a:r>
          </a:p>
          <a:p xmlns:a="http://schemas.openxmlformats.org/drawingml/2006/main">
            <a:pPr marL="228600" indent="-114300">
              <a:spcAft>
                <a:spcPts val="1000"/>
              </a:spcAft>
              <a:buChar char="•"/>
              <a:defRPr sz="1500">
                <a:solidFill>
                  <a:srgbClr val="142235"/>
                </a:solidFill>
                <a:latin typeface="Arial"/>
                <a:ea typeface="Arial"/>
                <a:cs typeface="Arial"/>
              </a:defRPr>
            </a:pPr>
            <a:r>
              <a:rPr sz="1500">
                <a:solidFill>
                  <a:srgbClr val="142235"/>
                </a:solidFill>
                <a:latin typeface="Arial"/>
                <a:ea typeface="Arial"/>
                <a:cs typeface="Arial"/>
              </a:rPr>
              <a:t>The same logistic classifier tests tabular features with and without graph context.</a:t>
            </a:r>
          </a:p>
          <a:p xmlns:a="http://schemas.openxmlformats.org/drawingml/2006/main">
            <a:pPr marL="228600" indent="-114300">
              <a:spcAft>
                <a:spcPts val="1000"/>
              </a:spcAft>
              <a:buChar char="•"/>
              <a:defRPr sz="1500">
                <a:solidFill>
                  <a:srgbClr val="142235"/>
                </a:solidFill>
                <a:latin typeface="Arial"/>
                <a:ea typeface="Arial"/>
                <a:cs typeface="Arial"/>
              </a:defRPr>
            </a:pPr>
            <a:r>
              <a:rPr sz="1500">
                <a:solidFill>
                  <a:srgbClr val="142235"/>
                </a:solidFill>
                <a:latin typeface="Arial"/>
                <a:ea typeface="Arial"/>
                <a:cs typeface="Arial"/>
              </a:rPr>
              <a:t>LightGBM adds nonlinear interactions only after the graph-feature ablation is complete.</a:t>
            </a:r>
          </a:p>
        </p:txBody>
      </p:sp>
      <p:sp>
        <p:nvSpPr>
          <p:cNvPr id="12" name="">
            <a:extLst xmlns:a="http://schemas.openxmlformats.org/drawingml/2006/main">
              <a:ext uri="{FF2B5EF4-FFF2-40B4-BE49-F238E27FC236}">
                <a16:creationId xmlns:a16="http://schemas.microsoft.com/office/drawing/2014/main" id="{88D23F8C-A60E-4567-AE53-4E56DE6DF967}"/>
              </a:ext>
            </a:extLst>
          </p:cNvPr>
          <p:cNvSpPr>
            <a:spLocks xmlns:a="http://schemas.openxmlformats.org/drawingml/2006/main" noGrp="1"/>
          </p:cNvSpPr>
          <p:nvPr/>
        </p:nvSpPr>
        <p:spPr>
          <a:xfrm xmlns:a="http://schemas.openxmlformats.org/drawingml/2006/main">
            <a:off x="7524750" y="3381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800" b="1">
                <a:solidFill>
                  <a:srgbClr val="091B33"/>
                </a:solidFill>
                <a:latin typeface="Arial"/>
                <a:ea typeface="Arial"/>
                <a:cs typeface="Arial"/>
              </a:defRPr>
            </a:pPr>
            <a:r>
              <a:rPr sz="1800" b="1">
                <a:solidFill>
                  <a:srgbClr val="091B33"/>
                </a:solidFill>
                <a:latin typeface="Arial"/>
                <a:ea typeface="Arial"/>
                <a:cs typeface="Arial"/>
              </a:rPr>
              <a:t>Core over stretch goal</a:t>
            </a:r>
          </a:p>
        </p:txBody>
      </p:sp>
      <p:sp>
        <p:nvSpPr>
          <p:cNvPr id="13" name="">
            <a:extLst xmlns:a="http://schemas.openxmlformats.org/drawingml/2006/main">
              <a:ext uri="{FF2B5EF4-FFF2-40B4-BE49-F238E27FC236}">
                <a16:creationId xmlns:a16="http://schemas.microsoft.com/office/drawing/2014/main" id="{315D65DB-CE6F-4AF0-A156-8FF4131B4D74}"/>
              </a:ext>
            </a:extLst>
          </p:cNvPr>
          <p:cNvSpPr>
            <a:spLocks xmlns:a="http://schemas.openxmlformats.org/drawingml/2006/main" noGrp="1"/>
          </p:cNvSpPr>
          <p:nvPr/>
        </p:nvSpPr>
        <p:spPr>
          <a:xfrm xmlns:a="http://schemas.openxmlformats.org/drawingml/2006/main">
            <a:off x="7524750" y="4000500"/>
            <a:ext cx="3762375" cy="1381125"/>
          </a:xfrm>
          <a:prstGeom xmlns:a="http://schemas.openxmlformats.org/drawingml/2006/main" prst="roundRect">
            <a:avLst>
              <a:gd name="adj" fmla="val 5517"/>
            </a:avLst>
          </a:prstGeom>
          <a:solidFill xmlns:a="http://schemas.openxmlformats.org/drawingml/2006/main">
            <a:srgbClr val="EEF2F7"/>
          </a:solidFill>
          <a:ln xmlns:a="http://schemas.openxmlformats.org/drawingml/2006/main" w="9525">
            <a:solidFill>
              <a:srgbClr val="C8D3E0"/>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0">
                <a:solidFill>
                  <a:srgbClr val="53657A"/>
                </a:solidFill>
                <a:latin typeface="Arial"/>
                <a:ea typeface="Arial"/>
                <a:cs typeface="Arial"/>
              </a:defRPr>
            </a:pPr>
            <a:r>
              <a:rPr sz="1425" b="0">
                <a:solidFill>
                  <a:srgbClr val="53657A"/>
                </a:solidFill>
                <a:latin typeface="Arial"/>
                <a:ea typeface="Arial"/>
                <a:cs typeface="Arial"/>
              </a:rPr>
              <a:t>A complete graph-feature model, capacity evaluation, explanations, and dashboard came before GraphSAGE or graph attention.</a:t>
            </a:r>
          </a:p>
        </p:txBody>
      </p:sp>
      <p:sp>
        <p:nvSpPr>
          <p:cNvPr id="14" name="">
            <a:extLst xmlns:a="http://schemas.openxmlformats.org/drawingml/2006/main">
              <a:ext uri="{FF2B5EF4-FFF2-40B4-BE49-F238E27FC236}">
                <a16:creationId xmlns:a16="http://schemas.microsoft.com/office/drawing/2014/main" id="{3D914BAC-1DE6-4A66-94F2-4788F3CB589F}"/>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08EDD81E-8F75-4033-A838-A5D09298A506}"/>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28 graph features enter the model after excluding one PageRank freshness diagnostic.</a:t>
            </a:r>
          </a:p>
        </p:txBody>
      </p:sp>
    </p:spTree>
    <p:extLst>
      <p:ext uri="{BB962C8B-B14F-4D97-AF65-F5344CB8AC3E}">
        <p14:creationId xmlns:p14="http://schemas.microsoft.com/office/powerpoint/2010/main" val="1122953415"/>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A58E67-9E62-4DFC-B1BE-9D783BDAF2DD}"/>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Graph context improved ranking on synthetic data</a:t>
            </a:r>
          </a:p>
        </p:txBody>
      </p:sp>
      <p:sp>
        <p:nvSpPr>
          <p:cNvPr id="2" name="">
            <a:extLst xmlns:a="http://schemas.openxmlformats.org/drawingml/2006/main">
              <a:ext uri="{FF2B5EF4-FFF2-40B4-BE49-F238E27FC236}">
                <a16:creationId xmlns:a16="http://schemas.microsoft.com/office/drawing/2014/main" id="{7E49A5D0-4AD3-4BAD-8A04-1E7DFDDC6625}"/>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6 / 10</a:t>
            </a:r>
          </a:p>
        </p:txBody>
      </p:sp>
      <p:graphicFrame>
        <p:nvGraphicFramePr>
          <p:cNvPr id="11" name="Chart"/>
          <p:cNvGraphicFramePr/>
          <p:nvPr/>
        </p:nvGraphicFramePr>
        <p:xfrm>
          <a:off xmlns:a="http://schemas.openxmlformats.org/drawingml/2006/main" x="714375" y="1333500"/>
          <a:ext xmlns:a="http://schemas.openxmlformats.org/drawingml/2006/main" cx="7524750" cy="4191000"/>
        </p:xfrm>
        <a:graphic xmlns:a="http://schemas.openxmlformats.org/drawingml/2006/main">
          <a:graphicData uri="http://schemas.openxmlformats.org/drawingml/2006/chart">
            <c:chart xmlns:r="http://schemas.openxmlformats.org/officeDocument/2006/relationships" xmlns:c="http://schemas.openxmlformats.org/drawingml/2006/chart" r:id="R0b03240e4404497a"/>
          </a:graphicData>
        </a:graphic>
      </p:graphicFrame>
      <p:sp>
        <p:nvSpPr>
          <p:cNvPr id="4" name="">
            <a:extLst xmlns:a="http://schemas.openxmlformats.org/drawingml/2006/main">
              <a:ext uri="{FF2B5EF4-FFF2-40B4-BE49-F238E27FC236}">
                <a16:creationId xmlns:a16="http://schemas.microsoft.com/office/drawing/2014/main" id="{ADBDD940-E47E-4302-90EC-77E7713DD294}"/>
              </a:ext>
            </a:extLst>
          </p:cNvPr>
          <p:cNvSpPr>
            <a:spLocks xmlns:a="http://schemas.openxmlformats.org/drawingml/2006/main" noGrp="1"/>
          </p:cNvSpPr>
          <p:nvPr/>
        </p:nvSpPr>
        <p:spPr>
          <a:xfrm xmlns:a="http://schemas.openxmlformats.org/drawingml/2006/main">
            <a:off x="8810625" y="19526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3150" b="1">
                <a:solidFill>
                  <a:srgbClr val="0F9D8A"/>
                </a:solidFill>
                <a:latin typeface="Arial"/>
                <a:ea typeface="Arial"/>
                <a:cs typeface="Arial"/>
              </a:defRPr>
            </a:pPr>
            <a:r>
              <a:rPr sz="3150" b="1">
                <a:solidFill>
                  <a:srgbClr val="0F9D8A"/>
                </a:solidFill>
                <a:latin typeface="Arial"/>
                <a:ea typeface="Arial"/>
                <a:cs typeface="Arial"/>
              </a:rPr>
              <a:t>+0.3946</a:t>
            </a:r>
          </a:p>
        </p:txBody>
      </p:sp>
      <p:sp>
        <p:nvSpPr>
          <p:cNvPr id="5" name="">
            <a:extLst xmlns:a="http://schemas.openxmlformats.org/drawingml/2006/main">
              <a:ext uri="{FF2B5EF4-FFF2-40B4-BE49-F238E27FC236}">
                <a16:creationId xmlns:a16="http://schemas.microsoft.com/office/drawing/2014/main" id="{60B77B43-3650-4BD9-A9DC-ECBC2BAEE1AE}"/>
              </a:ext>
            </a:extLst>
          </p:cNvPr>
          <p:cNvSpPr>
            <a:spLocks xmlns:a="http://schemas.openxmlformats.org/drawingml/2006/main" noGrp="1"/>
          </p:cNvSpPr>
          <p:nvPr/>
        </p:nvSpPr>
        <p:spPr>
          <a:xfrm xmlns:a="http://schemas.openxmlformats.org/drawingml/2006/main">
            <a:off x="8667750" y="27146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500" b="0">
                <a:solidFill>
                  <a:srgbClr val="53657A"/>
                </a:solidFill>
                <a:latin typeface="Arial"/>
                <a:ea typeface="Arial"/>
                <a:cs typeface="Arial"/>
              </a:defRPr>
            </a:pPr>
            <a:r>
              <a:rPr sz="1500" b="0">
                <a:solidFill>
                  <a:srgbClr val="53657A"/>
                </a:solidFill>
                <a:latin typeface="Arial"/>
                <a:ea typeface="Arial"/>
                <a:cs typeface="Arial"/>
              </a:rPr>
              <a:t>PR-AUC gain from adding graph features to logistic regression</a:t>
            </a:r>
          </a:p>
        </p:txBody>
      </p:sp>
      <p:sp>
        <p:nvSpPr>
          <p:cNvPr id="6" name="">
            <a:extLst xmlns:a="http://schemas.openxmlformats.org/drawingml/2006/main">
              <a:ext uri="{FF2B5EF4-FFF2-40B4-BE49-F238E27FC236}">
                <a16:creationId xmlns:a16="http://schemas.microsoft.com/office/drawing/2014/main" id="{46EC6081-FD94-48F6-93E0-5BAF24DE5035}"/>
              </a:ext>
            </a:extLst>
          </p:cNvPr>
          <p:cNvSpPr>
            <a:spLocks xmlns:a="http://schemas.openxmlformats.org/drawingml/2006/main" noGrp="1"/>
          </p:cNvSpPr>
          <p:nvPr/>
        </p:nvSpPr>
        <p:spPr>
          <a:xfrm xmlns:a="http://schemas.openxmlformats.org/drawingml/2006/main">
            <a:off x="8667750" y="4191000"/>
            <a:ext cx="2571750" cy="571500"/>
          </a:xfrm>
          <a:prstGeom xmlns:a="http://schemas.openxmlformats.org/drawingml/2006/main" prst="roundRect">
            <a:avLst>
              <a:gd name="adj" fmla="val 13333"/>
            </a:avLst>
          </a:prstGeom>
          <a:solidFill xmlns:a="http://schemas.openxmlformats.org/drawingml/2006/main">
            <a:srgbClr val="FDE2E0"/>
          </a:solidFill>
          <a:ln xmlns:a="http://schemas.openxmlformats.org/drawingml/2006/main" w="9525">
            <a:solidFill>
              <a:srgbClr val="F5A6A1"/>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275" b="1">
                <a:solidFill>
                  <a:srgbClr val="9B2924"/>
                </a:solidFill>
                <a:latin typeface="Arial"/>
                <a:ea typeface="Arial"/>
                <a:cs typeface="Arial"/>
              </a:defRPr>
            </a:pPr>
            <a:r>
              <a:rPr sz="1275" b="1">
                <a:solidFill>
                  <a:srgbClr val="9B2924"/>
                </a:solidFill>
                <a:latin typeface="Arial"/>
                <a:ea typeface="Arial"/>
                <a:cs typeface="Arial"/>
              </a:rPr>
              <a:t>Synthetic test: 84 rows, 8 fraud labels</a:t>
            </a:r>
          </a:p>
        </p:txBody>
      </p:sp>
      <p:sp>
        <p:nvSpPr>
          <p:cNvPr id="7" name="">
            <a:extLst xmlns:a="http://schemas.openxmlformats.org/drawingml/2006/main">
              <a:ext uri="{FF2B5EF4-FFF2-40B4-BE49-F238E27FC236}">
                <a16:creationId xmlns:a16="http://schemas.microsoft.com/office/drawing/2014/main" id="{9FF0A3D4-4BB5-4897-B1BC-E40EAE29BF2A}"/>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C6B7BEB1-6BC8-4DDA-87CB-BAAB72B20766}"/>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PR-AUC measures ranking quality under class imbalance. Results are synthetic development evidence.</a:t>
            </a:r>
          </a:p>
        </p:txBody>
      </p:sp>
    </p:spTree>
    <p:extLst>
      <p:ext uri="{BB962C8B-B14F-4D97-AF65-F5344CB8AC3E}">
        <p14:creationId xmlns:p14="http://schemas.microsoft.com/office/powerpoint/2010/main" val="16205096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8D661D-ED65-4E2A-8418-6A9EA545A3EF}"/>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Capacity impact on the synthetic test</a:t>
            </a:r>
          </a:p>
        </p:txBody>
      </p:sp>
      <p:sp>
        <p:nvSpPr>
          <p:cNvPr id="2" name="">
            <a:extLst xmlns:a="http://schemas.openxmlformats.org/drawingml/2006/main">
              <a:ext uri="{FF2B5EF4-FFF2-40B4-BE49-F238E27FC236}">
                <a16:creationId xmlns:a16="http://schemas.microsoft.com/office/drawing/2014/main" id="{53D7E679-B5D7-4336-9645-ED842979A945}"/>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7 / 10</a:t>
            </a:r>
          </a:p>
        </p:txBody>
      </p:sp>
      <p:sp>
        <p:nvSpPr>
          <p:cNvPr id="3" name="">
            <a:extLst xmlns:a="http://schemas.openxmlformats.org/drawingml/2006/main">
              <a:ext uri="{FF2B5EF4-FFF2-40B4-BE49-F238E27FC236}">
                <a16:creationId xmlns:a16="http://schemas.microsoft.com/office/drawing/2014/main" id="{B226E69A-EC31-475E-9DC4-2174FE3A67CE}"/>
              </a:ext>
            </a:extLst>
          </p:cNvPr>
          <p:cNvSpPr>
            <a:spLocks xmlns:a="http://schemas.openxmlformats.org/drawingml/2006/main" noGrp="1"/>
          </p:cNvSpPr>
          <p:nvPr/>
        </p:nvSpPr>
        <p:spPr>
          <a:xfrm xmlns:a="http://schemas.openxmlformats.org/drawingml/2006/main">
            <a:off x="809625" y="114300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650" b="1">
                <a:solidFill>
                  <a:srgbClr val="091B33"/>
                </a:solidFill>
                <a:latin typeface="Arial"/>
                <a:ea typeface="Arial"/>
                <a:cs typeface="Arial"/>
              </a:defRPr>
            </a:pPr>
            <a:r>
              <a:rPr sz="1650" b="1">
                <a:solidFill>
                  <a:srgbClr val="091B33"/>
                </a:solidFill>
                <a:latin typeface="Arial"/>
                <a:ea typeface="Arial"/>
                <a:cs typeface="Arial"/>
              </a:rPr>
              <a:t>Recall within the top 5%</a:t>
            </a:r>
          </a:p>
        </p:txBody>
      </p:sp>
      <p:graphicFrame>
        <p:nvGraphicFramePr>
          <p:cNvPr id="13" name="Chart"/>
          <p:cNvGraphicFramePr/>
          <p:nvPr/>
        </p:nvGraphicFramePr>
        <p:xfrm>
          <a:off xmlns:a="http://schemas.openxmlformats.org/drawingml/2006/main" x="666750" y="1619250"/>
          <a:ext xmlns:a="http://schemas.openxmlformats.org/drawingml/2006/main" cx="4953000" cy="3333750"/>
        </p:xfrm>
        <a:graphic xmlns:a="http://schemas.openxmlformats.org/drawingml/2006/main">
          <a:graphicData uri="http://schemas.openxmlformats.org/drawingml/2006/chart">
            <c:chart xmlns:r="http://schemas.openxmlformats.org/officeDocument/2006/relationships" xmlns:c="http://schemas.openxmlformats.org/drawingml/2006/chart" r:id="Re1dd62844482443a"/>
          </a:graphicData>
        </a:graphic>
      </p:graphicFrame>
      <p:sp>
        <p:nvSpPr>
          <p:cNvPr id="5" name="">
            <a:extLst xmlns:a="http://schemas.openxmlformats.org/drawingml/2006/main">
              <a:ext uri="{FF2B5EF4-FFF2-40B4-BE49-F238E27FC236}">
                <a16:creationId xmlns:a16="http://schemas.microsoft.com/office/drawing/2014/main" id="{024F5543-CF17-4815-B708-8ADA1EF12789}"/>
              </a:ext>
            </a:extLst>
          </p:cNvPr>
          <p:cNvSpPr>
            <a:spLocks xmlns:a="http://schemas.openxmlformats.org/drawingml/2006/main" noGrp="1"/>
          </p:cNvSpPr>
          <p:nvPr/>
        </p:nvSpPr>
        <p:spPr>
          <a:xfrm xmlns:a="http://schemas.openxmlformats.org/drawingml/2006/main">
            <a:off x="6667500" y="114300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650" b="1">
                <a:solidFill>
                  <a:srgbClr val="091B33"/>
                </a:solidFill>
                <a:latin typeface="Arial"/>
                <a:ea typeface="Arial"/>
                <a:cs typeface="Arial"/>
              </a:defRPr>
            </a:pPr>
            <a:r>
              <a:rPr sz="1650" b="1">
                <a:solidFill>
                  <a:srgbClr val="091B33"/>
                </a:solidFill>
                <a:latin typeface="Arial"/>
                <a:ea typeface="Arial"/>
                <a:cs typeface="Arial"/>
              </a:rPr>
              <a:t>Alerts needed for 37.5% recall</a:t>
            </a:r>
          </a:p>
        </p:txBody>
      </p:sp>
      <p:graphicFrame>
        <p:nvGraphicFramePr>
          <p:cNvPr id="15" name="Chart"/>
          <p:cNvGraphicFramePr/>
          <p:nvPr/>
        </p:nvGraphicFramePr>
        <p:xfrm>
          <a:off xmlns:a="http://schemas.openxmlformats.org/drawingml/2006/main" x="6572250" y="1619250"/>
          <a:ext xmlns:a="http://schemas.openxmlformats.org/drawingml/2006/main" cx="4953000" cy="3333750"/>
        </p:xfrm>
        <a:graphic xmlns:a="http://schemas.openxmlformats.org/drawingml/2006/main">
          <a:graphicData uri="http://schemas.openxmlformats.org/drawingml/2006/chart">
            <c:chart xmlns:r="http://schemas.openxmlformats.org/officeDocument/2006/relationships" xmlns:c="http://schemas.openxmlformats.org/drawingml/2006/chart" r:id="R7f7ab3cd4d0a44b7"/>
          </a:graphicData>
        </a:graphic>
      </p:graphicFrame>
      <p:sp>
        <p:nvSpPr>
          <p:cNvPr id="7" name="">
            <a:extLst xmlns:a="http://schemas.openxmlformats.org/drawingml/2006/main">
              <a:ext uri="{FF2B5EF4-FFF2-40B4-BE49-F238E27FC236}">
                <a16:creationId xmlns:a16="http://schemas.microsoft.com/office/drawing/2014/main" id="{AFEBD299-B5A8-479E-81C5-C4919F8098D8}"/>
              </a:ext>
            </a:extLst>
          </p:cNvPr>
          <p:cNvSpPr>
            <a:spLocks xmlns:a="http://schemas.openxmlformats.org/drawingml/2006/main" noGrp="1"/>
          </p:cNvSpPr>
          <p:nvPr/>
        </p:nvSpPr>
        <p:spPr>
          <a:xfrm xmlns:a="http://schemas.openxmlformats.org/drawingml/2006/main">
            <a:off x="7239000" y="51911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650" b="1">
                <a:solidFill>
                  <a:srgbClr val="F59E0B"/>
                </a:solidFill>
                <a:latin typeface="Arial"/>
                <a:ea typeface="Arial"/>
                <a:cs typeface="Arial"/>
              </a:defRPr>
            </a:pPr>
            <a:r>
              <a:rPr sz="1650" b="1">
                <a:solidFill>
                  <a:srgbClr val="F59E0B"/>
                </a:solidFill>
                <a:latin typeface="Arial"/>
                <a:ea typeface="Arial"/>
                <a:cs typeface="Arial"/>
              </a:rPr>
              <a:t>25% fewer alerts than rules at matched recall</a:t>
            </a:r>
          </a:p>
        </p:txBody>
      </p:sp>
      <p:sp>
        <p:nvSpPr>
          <p:cNvPr id="8" name="">
            <a:extLst xmlns:a="http://schemas.openxmlformats.org/drawingml/2006/main">
              <a:ext uri="{FF2B5EF4-FFF2-40B4-BE49-F238E27FC236}">
                <a16:creationId xmlns:a16="http://schemas.microsoft.com/office/drawing/2014/main" id="{E219AA93-587E-4C35-A012-C603CB5CE0FC}"/>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9" name="">
            <a:extLst xmlns:a="http://schemas.openxmlformats.org/drawingml/2006/main">
              <a:ext uri="{FF2B5EF4-FFF2-40B4-BE49-F238E27FC236}">
                <a16:creationId xmlns:a16="http://schemas.microsoft.com/office/drawing/2014/main" id="{47EA8ED6-12D0-4E8A-A1FE-2651ABF3E199}"/>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At a hard 5% capacity, each graph model found 5 of 8 fraud-labelled transactions with no false positives.</a:t>
            </a:r>
          </a:p>
        </p:txBody>
      </p:sp>
    </p:spTree>
    <p:extLst>
      <p:ext uri="{BB962C8B-B14F-4D97-AF65-F5344CB8AC3E}">
        <p14:creationId xmlns:p14="http://schemas.microsoft.com/office/powerpoint/2010/main" val="1707724174"/>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CD3EC6-B51B-419C-8063-E47580BEBFCF}"/>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Validation selected LightGBM, and the frozen test stayed honest</a:t>
            </a:r>
          </a:p>
        </p:txBody>
      </p:sp>
      <p:sp>
        <p:nvSpPr>
          <p:cNvPr id="2" name="">
            <a:extLst xmlns:a="http://schemas.openxmlformats.org/drawingml/2006/main">
              <a:ext uri="{FF2B5EF4-FFF2-40B4-BE49-F238E27FC236}">
                <a16:creationId xmlns:a16="http://schemas.microsoft.com/office/drawing/2014/main" id="{33A97721-5578-49DE-8797-975639864B54}"/>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8 / 10</a:t>
            </a:r>
          </a:p>
        </p:txBody>
      </p:sp>
      <p:graphicFrame>
        <p:nvGraphicFramePr>
          <p:cNvPr id="12" name="Chart"/>
          <p:cNvGraphicFramePr/>
          <p:nvPr/>
        </p:nvGraphicFramePr>
        <p:xfrm>
          <a:off xmlns:a="http://schemas.openxmlformats.org/drawingml/2006/main" x="809625" y="1476375"/>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36c39aaef9e94a8d"/>
          </a:graphicData>
        </a:graphic>
      </p:graphicFrame>
      <p:sp>
        <p:nvSpPr>
          <p:cNvPr id="4" name="">
            <a:extLst xmlns:a="http://schemas.openxmlformats.org/drawingml/2006/main">
              <a:ext uri="{FF2B5EF4-FFF2-40B4-BE49-F238E27FC236}">
                <a16:creationId xmlns:a16="http://schemas.microsoft.com/office/drawing/2014/main" id="{770707A5-471E-491E-896D-EA331ECFB32C}"/>
              </a:ext>
            </a:extLst>
          </p:cNvPr>
          <p:cNvSpPr>
            <a:spLocks xmlns:a="http://schemas.openxmlformats.org/drawingml/2006/main" noGrp="1"/>
          </p:cNvSpPr>
          <p:nvPr/>
        </p:nvSpPr>
        <p:spPr>
          <a:xfrm xmlns:a="http://schemas.openxmlformats.org/drawingml/2006/main">
            <a:off x="8334375" y="15240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650" b="1">
                <a:solidFill>
                  <a:srgbClr val="091B33"/>
                </a:solidFill>
                <a:latin typeface="Arial"/>
                <a:ea typeface="Arial"/>
                <a:cs typeface="Arial"/>
              </a:defRPr>
            </a:pPr>
            <a:r>
              <a:rPr sz="1650" b="1">
                <a:solidFill>
                  <a:srgbClr val="091B33"/>
                </a:solidFill>
                <a:latin typeface="Arial"/>
                <a:ea typeface="Arial"/>
                <a:cs typeface="Arial"/>
              </a:rPr>
              <a:t>Selection rule</a:t>
            </a:r>
          </a:p>
        </p:txBody>
      </p:sp>
      <p:sp>
        <p:nvSpPr>
          <p:cNvPr id="5" name="">
            <a:extLst xmlns:a="http://schemas.openxmlformats.org/drawingml/2006/main">
              <a:ext uri="{FF2B5EF4-FFF2-40B4-BE49-F238E27FC236}">
                <a16:creationId xmlns:a16="http://schemas.microsoft.com/office/drawing/2014/main" id="{09B45F81-E496-4D3F-974B-F2F5F0DA910F}"/>
              </a:ext>
            </a:extLst>
          </p:cNvPr>
          <p:cNvSpPr>
            <a:spLocks xmlns:a="http://schemas.openxmlformats.org/drawingml/2006/main" noGrp="1"/>
          </p:cNvSpPr>
          <p:nvPr/>
        </p:nvSpPr>
        <p:spPr>
          <a:xfrm xmlns:a="http://schemas.openxmlformats.org/drawingml/2006/main">
            <a:off x="8191500" y="2095500"/>
            <a:ext cx="2952750" cy="1238250"/>
          </a:xfrm>
          <a:prstGeom xmlns:a="http://schemas.openxmlformats.org/drawingml/2006/main" prst="roundRect">
            <a:avLst>
              <a:gd name="adj" fmla="val 6154"/>
            </a:avLst>
          </a:prstGeom>
          <a:solidFill xmlns:a="http://schemas.openxmlformats.org/drawingml/2006/main">
            <a:srgbClr val="D9F3EE"/>
          </a:solidFill>
          <a:ln xmlns:a="http://schemas.openxmlformats.org/drawingml/2006/main" w="9525">
            <a:solidFill>
              <a:srgbClr val="0F9D8A"/>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0">
                <a:solidFill>
                  <a:srgbClr val="142235"/>
                </a:solidFill>
                <a:latin typeface="Arial"/>
                <a:ea typeface="Arial"/>
                <a:cs typeface="Arial"/>
              </a:defRPr>
            </a:pPr>
            <a:r>
              <a:rPr sz="1425" b="0">
                <a:solidFill>
                  <a:srgbClr val="142235"/>
                </a:solidFill>
                <a:latin typeface="Arial"/>
                <a:ea typeface="Arial"/>
                <a:cs typeface="Arial"/>
              </a:rPr>
              <a:t>Choose the graph candidate with higher validation PR-AUC. Report the frozen test after selection.</a:t>
            </a:r>
          </a:p>
        </p:txBody>
      </p:sp>
      <p:sp>
        <p:nvSpPr>
          <p:cNvPr id="6" name="">
            <a:extLst xmlns:a="http://schemas.openxmlformats.org/drawingml/2006/main">
              <a:ext uri="{FF2B5EF4-FFF2-40B4-BE49-F238E27FC236}">
                <a16:creationId xmlns:a16="http://schemas.microsoft.com/office/drawing/2014/main" id="{221BE5F8-0B8E-4686-ABD8-2DA283B5E5F4}"/>
              </a:ext>
            </a:extLst>
          </p:cNvPr>
          <p:cNvSpPr>
            <a:spLocks xmlns:a="http://schemas.openxmlformats.org/drawingml/2006/main" noGrp="1"/>
          </p:cNvSpPr>
          <p:nvPr/>
        </p:nvSpPr>
        <p:spPr>
          <a:xfrm xmlns:a="http://schemas.openxmlformats.org/drawingml/2006/main">
            <a:off x="8239125" y="38100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650" b="1">
                <a:solidFill>
                  <a:srgbClr val="E7524B"/>
                </a:solidFill>
                <a:latin typeface="Arial"/>
                <a:ea typeface="Arial"/>
                <a:cs typeface="Arial"/>
              </a:defRPr>
            </a:pPr>
            <a:r>
              <a:rPr sz="1650" b="1">
                <a:solidFill>
                  <a:srgbClr val="E7524B"/>
                </a:solidFill>
                <a:latin typeface="Arial"/>
                <a:ea typeface="Arial"/>
                <a:cs typeface="Arial"/>
              </a:rPr>
              <a:t>The project does not switch models after seeing the test result.</a:t>
            </a:r>
          </a:p>
        </p:txBody>
      </p:sp>
      <p:sp>
        <p:nvSpPr>
          <p:cNvPr id="7" name="">
            <a:extLst xmlns:a="http://schemas.openxmlformats.org/drawingml/2006/main">
              <a:ext uri="{FF2B5EF4-FFF2-40B4-BE49-F238E27FC236}">
                <a16:creationId xmlns:a16="http://schemas.microsoft.com/office/drawing/2014/main" id="{FD7A90FB-7A45-47A1-B557-E95A04CB4E6D}"/>
              </a:ext>
            </a:extLst>
          </p:cNvPr>
          <p:cNvSpPr>
            <a:spLocks xmlns:a="http://schemas.openxmlformats.org/drawingml/2006/main" noGrp="1"/>
          </p:cNvSpPr>
          <p:nvPr/>
        </p:nvSpPr>
        <p:spPr>
          <a:xfrm xmlns:a="http://schemas.openxmlformats.org/drawingml/2006/main">
            <a:off x="8096250" y="49530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275" b="0">
                <a:solidFill>
                  <a:srgbClr val="53657A"/>
                </a:solidFill>
                <a:latin typeface="Arial"/>
                <a:ea typeface="Arial"/>
                <a:cs typeface="Arial"/>
              </a:defRPr>
            </a:pPr>
            <a:r>
              <a:rPr sz="1275" b="0">
                <a:solidFill>
                  <a:srgbClr val="53657A"/>
                </a:solidFill>
                <a:latin typeface="Arial"/>
                <a:ea typeface="Arial"/>
                <a:cs typeface="Arial"/>
              </a:rPr>
              <a:t>LightGBM stopped at iteration 3 of 400</a:t>
            </a:r>
          </a:p>
        </p:txBody>
      </p:sp>
      <p:sp>
        <p:nvSpPr>
          <p:cNvPr id="8" name="">
            <a:extLst xmlns:a="http://schemas.openxmlformats.org/drawingml/2006/main">
              <a:ext uri="{FF2B5EF4-FFF2-40B4-BE49-F238E27FC236}">
                <a16:creationId xmlns:a16="http://schemas.microsoft.com/office/drawing/2014/main" id="{E79BDACC-3A53-4CE2-BD35-D9481CDC00CE}"/>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9" name="">
            <a:extLst xmlns:a="http://schemas.openxmlformats.org/drawingml/2006/main">
              <a:ext uri="{FF2B5EF4-FFF2-40B4-BE49-F238E27FC236}">
                <a16:creationId xmlns:a16="http://schemas.microsoft.com/office/drawing/2014/main" id="{C8933A96-B49E-4B7F-9656-91B26C34EDB1}"/>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A small synthetic holdout can change model ordering. Real temporal backtests are the next evidence step.</a:t>
            </a:r>
          </a:p>
        </p:txBody>
      </p:sp>
    </p:spTree>
    <p:extLst>
      <p:ext uri="{BB962C8B-B14F-4D97-AF65-F5344CB8AC3E}">
        <p14:creationId xmlns:p14="http://schemas.microsoft.com/office/powerpoint/2010/main" val="1423920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541D925-70BF-43A3-A7D5-CA39A3C74778}"/>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091B33"/>
                </a:solidFill>
                <a:latin typeface="Arial"/>
                <a:ea typeface="Arial"/>
                <a:cs typeface="Arial"/>
              </a:defRPr>
            </a:pPr>
            <a:r>
              <a:rPr sz="2550" b="1">
                <a:solidFill>
                  <a:srgbClr val="091B33"/>
                </a:solidFill>
                <a:latin typeface="Arial"/>
                <a:ea typeface="Arial"/>
                <a:cs typeface="Arial"/>
              </a:rPr>
              <a:t>Investigator review workflow</a:t>
            </a:r>
          </a:p>
        </p:txBody>
      </p:sp>
      <p:sp>
        <p:nvSpPr>
          <p:cNvPr id="2" name="">
            <a:extLst xmlns:a="http://schemas.openxmlformats.org/drawingml/2006/main">
              <a:ext uri="{FF2B5EF4-FFF2-40B4-BE49-F238E27FC236}">
                <a16:creationId xmlns:a16="http://schemas.microsoft.com/office/drawing/2014/main" id="{4F3ABC10-ACEC-46D6-BC2E-AB4CF60C38AC}"/>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7A899A"/>
                </a:solidFill>
                <a:latin typeface="Arial"/>
                <a:ea typeface="Arial"/>
                <a:cs typeface="Arial"/>
              </a:defRPr>
            </a:pPr>
            <a:r>
              <a:rPr sz="1050" b="0">
                <a:solidFill>
                  <a:srgbClr val="7A899A"/>
                </a:solidFill>
                <a:latin typeface="Arial"/>
                <a:ea typeface="Arial"/>
                <a:cs typeface="Arial"/>
              </a:rPr>
              <a:t>9 / 10</a:t>
            </a:r>
          </a:p>
        </p:txBody>
      </p:sp>
      <p:sp>
        <p:nvSpPr>
          <p:cNvPr id="3" name="">
            <a:extLst xmlns:a="http://schemas.openxmlformats.org/drawingml/2006/main">
              <a:ext uri="{FF2B5EF4-FFF2-40B4-BE49-F238E27FC236}">
                <a16:creationId xmlns:a16="http://schemas.microsoft.com/office/drawing/2014/main" id="{6FBEFFB1-E936-4A9F-B2D1-3870AEF10560}"/>
              </a:ext>
            </a:extLst>
          </p:cNvPr>
          <p:cNvSpPr>
            <a:spLocks xmlns:a="http://schemas.openxmlformats.org/drawingml/2006/main" noGrp="1"/>
          </p:cNvSpPr>
          <p:nvPr/>
        </p:nvSpPr>
        <p:spPr>
          <a:xfrm xmlns:a="http://schemas.openxmlformats.org/drawingml/2006/main">
            <a:off x="714375" y="1952625"/>
            <a:ext cx="2190750" cy="1143000"/>
          </a:xfrm>
          <a:prstGeom xmlns:a="http://schemas.openxmlformats.org/drawingml/2006/main" prst="roundRect">
            <a:avLst>
              <a:gd name="adj" fmla="val 6667"/>
            </a:avLst>
          </a:prstGeom>
          <a:solidFill xmlns:a="http://schemas.openxmlformats.org/drawingml/2006/main">
            <a:srgbClr val="DCEBFA"/>
          </a:solidFill>
          <a:ln xmlns:a="http://schemas.openxmlformats.org/drawingml/2006/main" w="19050">
            <a:solidFill>
              <a:srgbClr val="2878C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Capacity-limited</a:t>
            </a:r>
          </a:p>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alert queue</a:t>
            </a:r>
          </a:p>
        </p:txBody>
      </p:sp>
      <p:sp>
        <p:nvSpPr>
          <p:cNvPr id="4" name="">
            <a:extLst xmlns:a="http://schemas.openxmlformats.org/drawingml/2006/main">
              <a:ext uri="{FF2B5EF4-FFF2-40B4-BE49-F238E27FC236}">
                <a16:creationId xmlns:a16="http://schemas.microsoft.com/office/drawing/2014/main" id="{1627667A-9340-4DA2-A68A-164E71BD7EDC}"/>
              </a:ext>
            </a:extLst>
          </p:cNvPr>
          <p:cNvSpPr>
            <a:spLocks xmlns:a="http://schemas.openxmlformats.org/drawingml/2006/main" noGrp="1"/>
          </p:cNvSpPr>
          <p:nvPr/>
        </p:nvSpPr>
        <p:spPr>
          <a:xfrm xmlns:a="http://schemas.openxmlformats.org/drawingml/2006/main">
            <a:off x="3286125" y="1952625"/>
            <a:ext cx="2190750" cy="1143000"/>
          </a:xfrm>
          <a:prstGeom xmlns:a="http://schemas.openxmlformats.org/drawingml/2006/main" prst="roundRect">
            <a:avLst>
              <a:gd name="adj" fmla="val 6667"/>
            </a:avLst>
          </a:prstGeom>
          <a:solidFill xmlns:a="http://schemas.openxmlformats.org/drawingml/2006/main">
            <a:srgbClr val="D9F3EE"/>
          </a:solidFill>
          <a:ln xmlns:a="http://schemas.openxmlformats.org/drawingml/2006/main" w="19050">
            <a:solidFill>
              <a:srgbClr val="0F9D8A"/>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Evidence-gated</a:t>
            </a:r>
          </a:p>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SHAP reasons</a:t>
            </a:r>
          </a:p>
        </p:txBody>
      </p:sp>
      <p:sp>
        <p:nvSpPr>
          <p:cNvPr id="5" name="">
            <a:extLst xmlns:a="http://schemas.openxmlformats.org/drawingml/2006/main">
              <a:ext uri="{FF2B5EF4-FFF2-40B4-BE49-F238E27FC236}">
                <a16:creationId xmlns:a16="http://schemas.microsoft.com/office/drawing/2014/main" id="{1580892E-0DB5-400D-A29F-B3EECB00D738}"/>
              </a:ext>
            </a:extLst>
          </p:cNvPr>
          <p:cNvSpPr>
            <a:spLocks xmlns:a="http://schemas.openxmlformats.org/drawingml/2006/main" noGrp="1"/>
          </p:cNvSpPr>
          <p:nvPr/>
        </p:nvSpPr>
        <p:spPr>
          <a:xfrm xmlns:a="http://schemas.openxmlformats.org/drawingml/2006/main">
            <a:off x="5857875" y="1952625"/>
            <a:ext cx="2190750" cy="1143000"/>
          </a:xfrm>
          <a:prstGeom xmlns:a="http://schemas.openxmlformats.org/drawingml/2006/main" prst="roundRect">
            <a:avLst>
              <a:gd name="adj" fmla="val 6667"/>
            </a:avLst>
          </a:prstGeom>
          <a:solidFill xmlns:a="http://schemas.openxmlformats.org/drawingml/2006/main">
            <a:srgbClr val="FEF0C7"/>
          </a:solidFill>
          <a:ln xmlns:a="http://schemas.openxmlformats.org/drawingml/2006/main" w="19050">
            <a:solidFill>
              <a:srgbClr val="F59E0B"/>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Earlier shared-entity</a:t>
            </a:r>
          </a:p>
          <a:p xmlns:a="http://schemas.openxmlformats.org/drawingml/2006/main">
            <a:pPr algn="ctr">
              <a:defRPr sz="1425" b="1">
                <a:solidFill>
                  <a:srgbClr val="142235"/>
                </a:solidFill>
                <a:latin typeface="Arial"/>
                <a:ea typeface="Arial"/>
                <a:cs typeface="Arial"/>
              </a:defRPr>
            </a:pPr>
            <a:r>
              <a:rPr sz="1425" b="1">
                <a:solidFill>
                  <a:srgbClr val="142235"/>
                </a:solidFill>
                <a:latin typeface="Arial"/>
                <a:ea typeface="Arial"/>
                <a:cs typeface="Arial"/>
              </a:rPr>
              <a:t>connection view</a:t>
            </a:r>
          </a:p>
        </p:txBody>
      </p:sp>
      <p:sp>
        <p:nvSpPr>
          <p:cNvPr id="6" name="">
            <a:extLst xmlns:a="http://schemas.openxmlformats.org/drawingml/2006/main">
              <a:ext uri="{FF2B5EF4-FFF2-40B4-BE49-F238E27FC236}">
                <a16:creationId xmlns:a16="http://schemas.microsoft.com/office/drawing/2014/main" id="{FCC767DB-59E1-43EF-8662-B5F5B324CC07}"/>
              </a:ext>
            </a:extLst>
          </p:cNvPr>
          <p:cNvSpPr>
            <a:spLocks xmlns:a="http://schemas.openxmlformats.org/drawingml/2006/main" noGrp="1"/>
          </p:cNvSpPr>
          <p:nvPr/>
        </p:nvSpPr>
        <p:spPr>
          <a:xfrm xmlns:a="http://schemas.openxmlformats.org/drawingml/2006/main">
            <a:off x="8715375" y="1952625"/>
            <a:ext cx="2190750" cy="1143000"/>
          </a:xfrm>
          <a:prstGeom xmlns:a="http://schemas.openxmlformats.org/drawingml/2006/main" prst="roundRect">
            <a:avLst>
              <a:gd name="adj" fmla="val 6667"/>
            </a:avLst>
          </a:prstGeom>
          <a:solidFill xmlns:a="http://schemas.openxmlformats.org/drawingml/2006/main">
            <a:srgbClr val="091B33"/>
          </a:solidFill>
          <a:ln xmlns:a="http://schemas.openxmlformats.org/drawingml/2006/main" w="19050">
            <a:solidFill>
              <a:srgbClr val="091B33"/>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investigator</a:t>
            </a:r>
          </a:p>
        </p:txBody>
      </p:sp>
      <p:sp>
        <p:nvSpPr>
          <p:cNvPr id="7" name="">
            <a:extLst xmlns:a="http://schemas.openxmlformats.org/drawingml/2006/main">
              <a:ext uri="{FF2B5EF4-FFF2-40B4-BE49-F238E27FC236}">
                <a16:creationId xmlns:a16="http://schemas.microsoft.com/office/drawing/2014/main" id="{4678285C-BF02-4077-A65C-F71BD1C696BB}"/>
              </a:ext>
            </a:extLst>
          </p:cNvPr>
          <p:cNvSpPr>
            <a:spLocks xmlns:a="http://schemas.openxmlformats.org/drawingml/2006/main" noGrp="1"/>
          </p:cNvSpPr>
          <p:nvPr/>
        </p:nvSpPr>
        <p:spPr>
          <a:xfrm xmlns:a="http://schemas.openxmlformats.org/drawingml/2006/main" flipH="0" flipV="0">
            <a:off x="2905125" y="2524125"/>
            <a:ext cx="381000"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8" name="">
            <a:extLst xmlns:a="http://schemas.openxmlformats.org/drawingml/2006/main">
              <a:ext uri="{FF2B5EF4-FFF2-40B4-BE49-F238E27FC236}">
                <a16:creationId xmlns:a16="http://schemas.microsoft.com/office/drawing/2014/main" id="{0916E993-9C48-4F1A-8558-EACA011CA634}"/>
              </a:ext>
            </a:extLst>
          </p:cNvPr>
          <p:cNvSpPr>
            <a:spLocks xmlns:a="http://schemas.openxmlformats.org/drawingml/2006/main" noGrp="1"/>
          </p:cNvSpPr>
          <p:nvPr/>
        </p:nvSpPr>
        <p:spPr>
          <a:xfrm xmlns:a="http://schemas.openxmlformats.org/drawingml/2006/main" flipH="0" flipV="0">
            <a:off x="5476875" y="2524125"/>
            <a:ext cx="381000"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9" name="">
            <a:extLst xmlns:a="http://schemas.openxmlformats.org/drawingml/2006/main">
              <a:ext uri="{FF2B5EF4-FFF2-40B4-BE49-F238E27FC236}">
                <a16:creationId xmlns:a16="http://schemas.microsoft.com/office/drawing/2014/main" id="{1DDACE48-FB40-4B2C-907C-1098F58F12CB}"/>
              </a:ext>
            </a:extLst>
          </p:cNvPr>
          <p:cNvSpPr>
            <a:spLocks xmlns:a="http://schemas.openxmlformats.org/drawingml/2006/main" noGrp="1"/>
          </p:cNvSpPr>
          <p:nvPr/>
        </p:nvSpPr>
        <p:spPr>
          <a:xfrm xmlns:a="http://schemas.openxmlformats.org/drawingml/2006/main" flipH="0" flipV="0">
            <a:off x="8048625" y="2524125"/>
            <a:ext cx="666750" cy="0"/>
          </a:xfrm>
          <a:prstGeom xmlns:a="http://schemas.openxmlformats.org/drawingml/2006/main" prst="line">
            <a:avLst/>
          </a:prstGeom>
          <a:noFill xmlns:a="http://schemas.openxmlformats.org/drawingml/2006/main"/>
          <a:ln xmlns:a="http://schemas.openxmlformats.org/drawingml/2006/main" w="28575">
            <a:solidFill>
              <a:srgbClr val="C8D3E0"/>
            </a:solidFill>
            <a:prstDash val="solid"/>
          </a:ln>
        </p:spPr>
      </p:sp>
      <p:sp>
        <p:nvSpPr>
          <p:cNvPr id="10" name="">
            <a:extLst xmlns:a="http://schemas.openxmlformats.org/drawingml/2006/main">
              <a:ext uri="{FF2B5EF4-FFF2-40B4-BE49-F238E27FC236}">
                <a16:creationId xmlns:a16="http://schemas.microsoft.com/office/drawing/2014/main" id="{8B37804C-9E1E-49B9-B8BA-36CBFA492EF8}"/>
              </a:ext>
            </a:extLst>
          </p:cNvPr>
          <p:cNvSpPr>
            <a:spLocks xmlns:a="http://schemas.openxmlformats.org/drawingml/2006/main" noGrp="1"/>
          </p:cNvSpPr>
          <p:nvPr/>
        </p:nvSpPr>
        <p:spPr>
          <a:xfrm xmlns:a="http://schemas.openxmlformats.org/drawingml/2006/main">
            <a:off x="857250" y="38576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725" b="1">
                <a:solidFill>
                  <a:srgbClr val="091B33"/>
                </a:solidFill>
                <a:latin typeface="Arial"/>
                <a:ea typeface="Arial"/>
                <a:cs typeface="Arial"/>
              </a:defRPr>
            </a:pPr>
            <a:r>
              <a:rPr sz="1725" b="1">
                <a:solidFill>
                  <a:srgbClr val="091B33"/>
                </a:solidFill>
                <a:latin typeface="Arial"/>
                <a:ea typeface="Arial"/>
                <a:cs typeface="Arial"/>
              </a:rPr>
              <a:t>What the interface protects</a:t>
            </a:r>
          </a:p>
        </p:txBody>
      </p:sp>
      <p:sp>
        <p:nvSpPr>
          <p:cNvPr id="11" name="">
            <a:extLst xmlns:a="http://schemas.openxmlformats.org/drawingml/2006/main">
              <a:ext uri="{FF2B5EF4-FFF2-40B4-BE49-F238E27FC236}">
                <a16:creationId xmlns:a16="http://schemas.microsoft.com/office/drawing/2014/main" id="{9A5240B5-A0CE-4AD5-8EA9-E383B3B5AABC}"/>
              </a:ext>
            </a:extLst>
          </p:cNvPr>
          <p:cNvSpPr>
            <a:spLocks xmlns:a="http://schemas.openxmlformats.org/drawingml/2006/main" noGrp="1"/>
          </p:cNvSpPr>
          <p:nvPr/>
        </p:nvSpPr>
        <p:spPr>
          <a:xfrm xmlns:a="http://schemas.openxmlformats.org/drawingml/2006/main">
            <a:off x="857250" y="4333875"/>
            <a:ext cx="5476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38100" bIns="19050">
            <a:noAutofit/>
          </a:bodyPr>
          <a:lstStyle xmlns:a="http://schemas.openxmlformats.org/drawingml/2006/main"/>
          <a:p xmlns:a="http://schemas.openxmlformats.org/drawingml/2006/main">
            <a:pPr marL="228600" indent="-114300">
              <a:spcAft>
                <a:spcPts val="900"/>
              </a:spcAft>
              <a:buChar char="•"/>
              <a:defRPr sz="1425">
                <a:solidFill>
                  <a:srgbClr val="142235"/>
                </a:solidFill>
                <a:latin typeface="Arial"/>
                <a:ea typeface="Arial"/>
                <a:cs typeface="Arial"/>
              </a:defRPr>
            </a:pPr>
            <a:r>
              <a:rPr sz="1425">
                <a:solidFill>
                  <a:srgbClr val="142235"/>
                </a:solidFill>
                <a:latin typeface="Arial"/>
                <a:ea typeface="Arial"/>
                <a:cs typeface="Arial"/>
              </a:rPr>
              <a:t>Evaluation labels never reach the dashboard data layer.</a:t>
            </a:r>
          </a:p>
          <a:p xmlns:a="http://schemas.openxmlformats.org/drawingml/2006/main">
            <a:pPr marL="228600" indent="-114300">
              <a:spcAft>
                <a:spcPts val="900"/>
              </a:spcAft>
              <a:buChar char="•"/>
              <a:defRPr sz="1425">
                <a:solidFill>
                  <a:srgbClr val="142235"/>
                </a:solidFill>
                <a:latin typeface="Arial"/>
                <a:ea typeface="Arial"/>
                <a:cs typeface="Arial"/>
              </a:defRPr>
            </a:pPr>
            <a:r>
              <a:rPr sz="1425">
                <a:solidFill>
                  <a:srgbClr val="142235"/>
                </a:solidFill>
                <a:latin typeface="Arial"/>
                <a:ea typeface="Arial"/>
                <a:cs typeface="Arial"/>
              </a:rPr>
              <a:t>Entity references are masked and email-domain hubs are excluded.</a:t>
            </a:r>
          </a:p>
          <a:p xmlns:a="http://schemas.openxmlformats.org/drawingml/2006/main">
            <a:pPr marL="228600" indent="-114300">
              <a:spcAft>
                <a:spcPts val="900"/>
              </a:spcAft>
              <a:buChar char="•"/>
              <a:defRPr sz="1425">
                <a:solidFill>
                  <a:srgbClr val="142235"/>
                </a:solidFill>
                <a:latin typeface="Arial"/>
                <a:ea typeface="Arial"/>
                <a:cs typeface="Arial"/>
              </a:defRPr>
            </a:pPr>
            <a:r>
              <a:rPr sz="1425">
                <a:solidFill>
                  <a:srgbClr val="142235"/>
                </a:solidFill>
                <a:latin typeface="Arial"/>
                <a:ea typeface="Arial"/>
                <a:cs typeface="Arial"/>
              </a:rPr>
              <a:t>Local graphs show strictly earlier transactions and cap the view at 20 neighbours.</a:t>
            </a:r>
          </a:p>
        </p:txBody>
      </p:sp>
      <p:sp>
        <p:nvSpPr>
          <p:cNvPr id="12" name="">
            <a:extLst xmlns:a="http://schemas.openxmlformats.org/drawingml/2006/main">
              <a:ext uri="{FF2B5EF4-FFF2-40B4-BE49-F238E27FC236}">
                <a16:creationId xmlns:a16="http://schemas.microsoft.com/office/drawing/2014/main" id="{C1AC8751-52B1-422C-B96C-158465D2369C}"/>
              </a:ext>
            </a:extLst>
          </p:cNvPr>
          <p:cNvSpPr>
            <a:spLocks xmlns:a="http://schemas.openxmlformats.org/drawingml/2006/main" noGrp="1"/>
          </p:cNvSpPr>
          <p:nvPr/>
        </p:nvSpPr>
        <p:spPr>
          <a:xfrm xmlns:a="http://schemas.openxmlformats.org/drawingml/2006/main">
            <a:off x="7572375" y="4000500"/>
            <a:ext cx="3238500" cy="1666875"/>
          </a:xfrm>
          <a:prstGeom xmlns:a="http://schemas.openxmlformats.org/drawingml/2006/main" prst="roundRect">
            <a:avLst>
              <a:gd name="adj" fmla="val 4571"/>
            </a:avLst>
          </a:prstGeom>
          <a:solidFill xmlns:a="http://schemas.openxmlformats.org/drawingml/2006/main">
            <a:srgbClr val="FDE2E0"/>
          </a:solidFill>
          <a:ln xmlns:a="http://schemas.openxmlformats.org/drawingml/2006/main" w="19050">
            <a:solidFill>
              <a:srgbClr val="E7524B"/>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00" b="1">
                <a:solidFill>
                  <a:srgbClr val="8F2823"/>
                </a:solidFill>
                <a:latin typeface="Arial"/>
                <a:ea typeface="Arial"/>
                <a:cs typeface="Arial"/>
              </a:defRPr>
            </a:pPr>
            <a:r>
              <a:rPr sz="1500" b="1">
                <a:solidFill>
                  <a:srgbClr val="8F2823"/>
                </a:solidFill>
                <a:latin typeface="Arial"/>
                <a:ea typeface="Arial"/>
                <a:cs typeface="Arial"/>
              </a:rPr>
              <a:t>Recommendation</a:t>
            </a:r>
          </a:p>
          <a:p xmlns:a="http://schemas.openxmlformats.org/drawingml/2006/main">
            <a:pPr algn="ctr">
              <a:defRPr sz="1500" b="1">
                <a:solidFill>
                  <a:srgbClr val="8F2823"/>
                </a:solidFill>
                <a:latin typeface="Arial"/>
                <a:ea typeface="Arial"/>
                <a:cs typeface="Arial"/>
              </a:defRPr>
            </a:pPr>
            <a:r>
              <a:rPr sz="1500" b="1">
                <a:solidFill>
                  <a:srgbClr val="8F2823"/>
                </a:solidFill>
                <a:latin typeface="Arial"/>
                <a:ea typeface="Arial"/>
                <a:cs typeface="Arial"/>
              </a:rPr>
              <a:t>INVESTIGATOR_REVIEW</a:t>
            </a:r>
          </a:p>
          <a:p xmlns:a="http://schemas.openxmlformats.org/drawingml/2006/main">
            <a:r>
              <a:t/>
            </a:r>
          </a:p>
          <a:p xmlns:a="http://schemas.openxmlformats.org/drawingml/2006/main">
            <a:pPr algn="ctr">
              <a:defRPr sz="1500" b="1">
                <a:solidFill>
                  <a:srgbClr val="8F2823"/>
                </a:solidFill>
                <a:latin typeface="Arial"/>
                <a:ea typeface="Arial"/>
                <a:cs typeface="Arial"/>
              </a:defRPr>
            </a:pPr>
            <a:r>
              <a:rPr sz="1500" b="1">
                <a:solidFill>
                  <a:srgbClr val="8F2823"/>
                </a:solidFill>
                <a:latin typeface="Arial"/>
                <a:ea typeface="Arial"/>
                <a:cs typeface="Arial"/>
              </a:rPr>
              <a:t>No automatic blocking</a:t>
            </a:r>
          </a:p>
        </p:txBody>
      </p:sp>
      <p:sp>
        <p:nvSpPr>
          <p:cNvPr id="13" name="">
            <a:extLst xmlns:a="http://schemas.openxmlformats.org/drawingml/2006/main">
              <a:ext uri="{FF2B5EF4-FFF2-40B4-BE49-F238E27FC236}">
                <a16:creationId xmlns:a16="http://schemas.microsoft.com/office/drawing/2014/main" id="{9C583877-3A4B-4834-BFD2-061781344133}"/>
              </a:ext>
            </a:extLst>
          </p:cNvPr>
          <p:cNvSpPr>
            <a:spLocks xmlns:a="http://schemas.openxmlformats.org/drawingml/2006/main" noGrp="1"/>
          </p:cNvSpPr>
          <p:nvPr/>
        </p:nvSpPr>
        <p:spPr>
          <a:xfrm xmlns:a="http://schemas.openxmlformats.org/drawingml/2006/main" flipH="0" flipV="0">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DCE3EC"/>
            </a:solidFill>
            <a:prstDash val="solid"/>
          </a:ln>
        </p:spPr>
      </p:sp>
      <p:sp>
        <p:nvSpPr>
          <p:cNvPr id="14" name="">
            <a:extLst xmlns:a="http://schemas.openxmlformats.org/drawingml/2006/main">
              <a:ext uri="{FF2B5EF4-FFF2-40B4-BE49-F238E27FC236}">
                <a16:creationId xmlns:a16="http://schemas.microsoft.com/office/drawing/2014/main" id="{B459E8E4-4FF0-47F2-91D8-371A5D942A74}"/>
              </a:ext>
            </a:extLst>
          </p:cNvPr>
          <p:cNvSpPr>
            <a:spLocks xmlns:a="http://schemas.openxmlformats.org/drawingml/2006/main" noGrp="1"/>
          </p:cNvSpPr>
          <p:nvPr/>
        </p:nvSpPr>
        <p:spPr>
          <a:xfrm xmlns:a="http://schemas.openxmlformats.org/drawingml/2006/main">
            <a:off x="609600" y="65722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825" b="0">
                <a:solidFill>
                  <a:srgbClr val="7A899A"/>
                </a:solidFill>
                <a:latin typeface="Arial"/>
                <a:ea typeface="Arial"/>
                <a:cs typeface="Arial"/>
              </a:defRPr>
            </a:pPr>
            <a:r>
              <a:rPr sz="825" b="0">
                <a:solidFill>
                  <a:srgbClr val="7A899A"/>
                </a:solidFill>
                <a:latin typeface="Arial"/>
                <a:ea typeface="Arial"/>
                <a:cs typeface="Arial"/>
              </a:rPr>
              <a:t>The dashboard describes suspected fraud-ring connections, not verified criminal networks.</a:t>
            </a:r>
          </a:p>
        </p:txBody>
      </p:sp>
    </p:spTree>
    <p:extLst>
      <p:ext uri="{BB962C8B-B14F-4D97-AF65-F5344CB8AC3E}">
        <p14:creationId xmlns:p14="http://schemas.microsoft.com/office/powerpoint/2010/main" val="1784114101"/>
      </p:ext>
    </p:extLst>
  </p:cSld>
</p:sld>
</file>

<file path=ppt/slides/slide10.xml><?xml version="1.0" encoding="utf-8"?>
<p:sld xmlns:p="http://schemas.openxmlformats.org/presentationml/2006/main">
  <p:cSld>
    <p:bg>
      <p:bgPr>
        <a:solidFill xmlns:a="http://schemas.openxmlformats.org/drawingml/2006/main">
          <a:srgbClr val="091B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AA9FCC-DB3E-4FCD-A98A-A9A90CBF8DB8}"/>
              </a:ext>
            </a:extLst>
          </p:cNvPr>
          <p:cNvSpPr>
            <a:spLocks xmlns:a="http://schemas.openxmlformats.org/drawingml/2006/main" noGrp="1"/>
          </p:cNvSpPr>
          <p:nvPr/>
        </p:nvSpPr>
        <p:spPr>
          <a:xfrm xmlns:a="http://schemas.openxmlformats.org/drawingml/2006/main">
            <a:off x="609600" y="3429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What the project proves and what comes next</a:t>
            </a:r>
          </a:p>
        </p:txBody>
      </p:sp>
      <p:sp>
        <p:nvSpPr>
          <p:cNvPr id="2" name="">
            <a:extLst xmlns:a="http://schemas.openxmlformats.org/drawingml/2006/main">
              <a:ext uri="{FF2B5EF4-FFF2-40B4-BE49-F238E27FC236}">
                <a16:creationId xmlns:a16="http://schemas.microsoft.com/office/drawing/2014/main" id="{195C797E-3BCA-405F-ADDE-5F16C92A8F2F}"/>
              </a:ext>
            </a:extLst>
          </p:cNvPr>
          <p:cNvSpPr>
            <a:spLocks xmlns:a="http://schemas.openxmlformats.org/drawingml/2006/main" noGrp="1"/>
          </p:cNvSpPr>
          <p:nvPr/>
        </p:nvSpPr>
        <p:spPr>
          <a:xfrm xmlns:a="http://schemas.openxmlformats.org/drawingml/2006/main">
            <a:off x="11049000" y="43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r">
              <a:defRPr sz="1050" b="0">
                <a:solidFill>
                  <a:srgbClr val="AFC7E3"/>
                </a:solidFill>
                <a:latin typeface="Arial"/>
                <a:ea typeface="Arial"/>
                <a:cs typeface="Arial"/>
              </a:defRPr>
            </a:pPr>
            <a:r>
              <a:rPr sz="1050" b="0">
                <a:solidFill>
                  <a:srgbClr val="AFC7E3"/>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EDDCE2BA-2CE7-4C0C-BD46-1941AB14E0A0}"/>
              </a:ext>
            </a:extLst>
          </p:cNvPr>
          <p:cNvSpPr>
            <a:spLocks xmlns:a="http://schemas.openxmlformats.org/drawingml/2006/main" noGrp="1"/>
          </p:cNvSpPr>
          <p:nvPr/>
        </p:nvSpPr>
        <p:spPr>
          <a:xfrm xmlns:a="http://schemas.openxmlformats.org/drawingml/2006/main">
            <a:off x="809625" y="138112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875" b="1">
                <a:solidFill>
                  <a:srgbClr val="8CD8CB"/>
                </a:solidFill>
                <a:latin typeface="Arial"/>
                <a:ea typeface="Arial"/>
                <a:cs typeface="Arial"/>
              </a:defRPr>
            </a:pPr>
            <a:r>
              <a:rPr sz="1875" b="1">
                <a:solidFill>
                  <a:srgbClr val="8CD8CB"/>
                </a:solidFill>
                <a:latin typeface="Arial"/>
                <a:ea typeface="Arial"/>
                <a:cs typeface="Arial"/>
              </a:rPr>
              <a:t>Supported by the current evidence</a:t>
            </a:r>
          </a:p>
        </p:txBody>
      </p:sp>
      <p:sp>
        <p:nvSpPr>
          <p:cNvPr id="4" name="">
            <a:extLst xmlns:a="http://schemas.openxmlformats.org/drawingml/2006/main">
              <a:ext uri="{FF2B5EF4-FFF2-40B4-BE49-F238E27FC236}">
                <a16:creationId xmlns:a16="http://schemas.microsoft.com/office/drawing/2014/main" id="{0AECAC6D-669B-4E7E-99B4-D90A5C638818}"/>
              </a:ext>
            </a:extLst>
          </p:cNvPr>
          <p:cNvSpPr>
            <a:spLocks xmlns:a="http://schemas.openxmlformats.org/drawingml/2006/main" noGrp="1"/>
          </p:cNvSpPr>
          <p:nvPr/>
        </p:nvSpPr>
        <p:spPr>
          <a:xfrm xmlns:a="http://schemas.openxmlformats.org/drawingml/2006/main">
            <a:off x="809625" y="204787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38100" bIns="19050">
            <a:noAutofit/>
          </a:bodyPr>
          <a:lstStyle xmlns:a="http://schemas.openxmlformats.org/drawingml/2006/main"/>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The pipeline is reproducible and leakage-aware.</a:t>
            </a:r>
          </a:p>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Graph context improved ranking over the tabular baseline on synthetic data.</a:t>
            </a:r>
          </a:p>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The system connects model evidence to a review-only investigator workflow.</a:t>
            </a:r>
          </a:p>
        </p:txBody>
      </p:sp>
      <p:sp>
        <p:nvSpPr>
          <p:cNvPr id="5" name="">
            <a:extLst xmlns:a="http://schemas.openxmlformats.org/drawingml/2006/main">
              <a:ext uri="{FF2B5EF4-FFF2-40B4-BE49-F238E27FC236}">
                <a16:creationId xmlns:a16="http://schemas.microsoft.com/office/drawing/2014/main" id="{2E920AFD-FA22-443E-BB5F-D7E89115D39B}"/>
              </a:ext>
            </a:extLst>
          </p:cNvPr>
          <p:cNvSpPr>
            <a:spLocks xmlns:a="http://schemas.openxmlformats.org/drawingml/2006/main" noGrp="1"/>
          </p:cNvSpPr>
          <p:nvPr/>
        </p:nvSpPr>
        <p:spPr>
          <a:xfrm xmlns:a="http://schemas.openxmlformats.org/drawingml/2006/main">
            <a:off x="6858000" y="138112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l">
              <a:defRPr sz="1875" b="1">
                <a:solidFill>
                  <a:srgbClr val="FFCA70"/>
                </a:solidFill>
                <a:latin typeface="Arial"/>
                <a:ea typeface="Arial"/>
                <a:cs typeface="Arial"/>
              </a:defRPr>
            </a:pPr>
            <a:r>
              <a:rPr sz="1875" b="1">
                <a:solidFill>
                  <a:srgbClr val="FFCA70"/>
                </a:solidFill>
                <a:latin typeface="Arial"/>
                <a:ea typeface="Arial"/>
                <a:cs typeface="Arial"/>
              </a:rPr>
              <a:t>Still unproven</a:t>
            </a:r>
          </a:p>
        </p:txBody>
      </p:sp>
      <p:sp>
        <p:nvSpPr>
          <p:cNvPr id="6" name="">
            <a:extLst xmlns:a="http://schemas.openxmlformats.org/drawingml/2006/main">
              <a:ext uri="{FF2B5EF4-FFF2-40B4-BE49-F238E27FC236}">
                <a16:creationId xmlns:a16="http://schemas.microsoft.com/office/drawing/2014/main" id="{E3ECECD1-FDDE-475F-B9B4-7C0F63F48805}"/>
              </a:ext>
            </a:extLst>
          </p:cNvPr>
          <p:cNvSpPr>
            <a:spLocks xmlns:a="http://schemas.openxmlformats.org/drawingml/2006/main" noGrp="1"/>
          </p:cNvSpPr>
          <p:nvPr/>
        </p:nvSpPr>
        <p:spPr>
          <a:xfrm xmlns:a="http://schemas.openxmlformats.org/drawingml/2006/main">
            <a:off x="6858000" y="2047875"/>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38100" bIns="19050">
            <a:noAutofit/>
          </a:bodyPr>
          <a:lstStyle xmlns:a="http://schemas.openxmlformats.org/drawingml/2006/main"/>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Performance on IEEE-CIS or real bank data.</a:t>
            </a:r>
          </a:p>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Verified fraud-ring detection because the dataset has no ring labels.</a:t>
            </a:r>
          </a:p>
          <a:p xmlns:a="http://schemas.openxmlformats.org/drawingml/2006/main">
            <a:pPr marL="228600" indent="-114300">
              <a:spcAft>
                <a:spcPts val="1200"/>
              </a:spcAft>
              <a:buChar char="•"/>
              <a:defRPr sz="1575">
                <a:solidFill>
                  <a:srgbClr val="FFFFFF"/>
                </a:solidFill>
                <a:latin typeface="Arial"/>
                <a:ea typeface="Arial"/>
                <a:cs typeface="Arial"/>
              </a:defRPr>
            </a:pPr>
            <a:r>
              <a:rPr sz="1575">
                <a:solidFill>
                  <a:srgbClr val="FFFFFF"/>
                </a:solidFill>
                <a:latin typeface="Arial"/>
                <a:ea typeface="Arial"/>
                <a:cs typeface="Arial"/>
              </a:rPr>
              <a:t>Probability calibration, investigator utility, and production controls.</a:t>
            </a:r>
          </a:p>
        </p:txBody>
      </p:sp>
      <p:sp>
        <p:nvSpPr>
          <p:cNvPr id="7" name="">
            <a:extLst xmlns:a="http://schemas.openxmlformats.org/drawingml/2006/main">
              <a:ext uri="{FF2B5EF4-FFF2-40B4-BE49-F238E27FC236}">
                <a16:creationId xmlns:a16="http://schemas.microsoft.com/office/drawing/2014/main" id="{34258A37-1D40-487D-8A2B-923B854B19D3}"/>
              </a:ext>
            </a:extLst>
          </p:cNvPr>
          <p:cNvSpPr>
            <a:spLocks xmlns:a="http://schemas.openxmlformats.org/drawingml/2006/main" noGrp="1"/>
          </p:cNvSpPr>
          <p:nvPr/>
        </p:nvSpPr>
        <p:spPr>
          <a:xfrm xmlns:a="http://schemas.openxmlformats.org/drawingml/2006/main">
            <a:off x="1809750" y="4953000"/>
            <a:ext cx="85725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091B33"/>
                </a:solidFill>
                <a:latin typeface="Arial"/>
                <a:ea typeface="Arial"/>
                <a:cs typeface="Arial"/>
              </a:defRPr>
            </a:pPr>
            <a:r>
              <a:rPr sz="1800" b="1">
                <a:solidFill>
                  <a:srgbClr val="091B33"/>
                </a:solidFill>
                <a:latin typeface="Arial"/>
                <a:ea typeface="Arial"/>
                <a:cs typeface="Arial"/>
              </a:rPr>
              <a:t>Next evidence step: rerun the unchanged temporal protocol on IEEE-CIS</a:t>
            </a:r>
          </a:p>
        </p:txBody>
      </p:sp>
      <p:sp>
        <p:nvSpPr>
          <p:cNvPr id="8" name="">
            <a:extLst xmlns:a="http://schemas.openxmlformats.org/drawingml/2006/main">
              <a:ext uri="{FF2B5EF4-FFF2-40B4-BE49-F238E27FC236}">
                <a16:creationId xmlns:a16="http://schemas.microsoft.com/office/drawing/2014/main" id="{02D4843E-1942-4526-A412-617638225275}"/>
              </a:ext>
            </a:extLst>
          </p:cNvPr>
          <p:cNvSpPr>
            <a:spLocks xmlns:a="http://schemas.openxmlformats.org/drawingml/2006/main" noGrp="1"/>
          </p:cNvSpPr>
          <p:nvPr/>
        </p:nvSpPr>
        <p:spPr>
          <a:xfrm xmlns:a="http://schemas.openxmlformats.org/drawingml/2006/main">
            <a:off x="5000625" y="60483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Autofit/>
          </a:bodyPr>
          <a:lstStyle xmlns:a="http://schemas.openxmlformats.org/drawingml/2006/main"/>
          <a:p xmlns:a="http://schemas.openxmlformats.org/drawingml/2006/main">
            <a:pPr algn="ctr">
              <a:defRPr sz="1800" b="1">
                <a:solidFill>
                  <a:srgbClr val="C9DCF3"/>
                </a:solidFill>
                <a:latin typeface="Arial"/>
                <a:ea typeface="Arial"/>
                <a:cs typeface="Arial"/>
              </a:defRPr>
            </a:pPr>
            <a:r>
              <a:rPr sz="1800" b="1">
                <a:solidFill>
                  <a:srgbClr val="C9DCF3"/>
                </a:solidFill>
                <a:latin typeface="Arial"/>
                <a:ea typeface="Arial"/>
                <a:cs typeface="Arial"/>
              </a:rPr>
              <a:t>Questions</a:t>
            </a:r>
          </a:p>
        </p:txBody>
      </p:sp>
    </p:spTree>
    <p:extLst>
      <p:ext uri="{BB962C8B-B14F-4D97-AF65-F5344CB8AC3E}">
        <p14:creationId xmlns:p14="http://schemas.microsoft.com/office/powerpoint/2010/main" val="1930293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2026-09-07T16:36:33.4690000Z</dcterms:created>
  <dcterms:modified xsi:type="dcterms:W3CDTF">2026-09-07T16:36:33.4700000Z</dcterms:modified>
</coreProperties>
</file>